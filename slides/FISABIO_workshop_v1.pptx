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87" r:id="rId2"/>
    <p:sldId id="321" r:id="rId3"/>
    <p:sldId id="332" r:id="rId4"/>
    <p:sldId id="323" r:id="rId5"/>
    <p:sldId id="331" r:id="rId6"/>
    <p:sldId id="324" r:id="rId7"/>
    <p:sldId id="325" r:id="rId8"/>
    <p:sldId id="326" r:id="rId9"/>
    <p:sldId id="327" r:id="rId10"/>
    <p:sldId id="328" r:id="rId11"/>
    <p:sldId id="329" r:id="rId12"/>
    <p:sldId id="330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87E26C0-E1A9-524D-BD8D-9134100C2927}" v="2" dt="2026-07-06T02:49:25.92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492"/>
    <p:restoredTop sz="94011"/>
  </p:normalViewPr>
  <p:slideViewPr>
    <p:cSldViewPr snapToGrid="0">
      <p:cViewPr varScale="1">
        <p:scale>
          <a:sx n="117" d="100"/>
          <a:sy n="117" d="100"/>
        </p:scale>
        <p:origin x="432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shitij Tandon" userId="15634347-acbf-4539-84f7-139d21f51226" providerId="ADAL" clId="{0A25E2B8-B0B5-54DF-BADD-6F926CE8A598}"/>
    <pc:docChg chg="undo custSel addSld modSld">
      <pc:chgData name="Kshitij Tandon" userId="15634347-acbf-4539-84f7-139d21f51226" providerId="ADAL" clId="{0A25E2B8-B0B5-54DF-BADD-6F926CE8A598}" dt="2026-07-06T02:49:39.893" v="205" actId="478"/>
      <pc:docMkLst>
        <pc:docMk/>
      </pc:docMkLst>
      <pc:sldChg chg="modSp mod">
        <pc:chgData name="Kshitij Tandon" userId="15634347-acbf-4539-84f7-139d21f51226" providerId="ADAL" clId="{0A25E2B8-B0B5-54DF-BADD-6F926CE8A598}" dt="2026-07-06T02:49:29.551" v="203" actId="113"/>
        <pc:sldMkLst>
          <pc:docMk/>
          <pc:sldMk cId="2962316723" sldId="321"/>
        </pc:sldMkLst>
        <pc:spChg chg="mod">
          <ac:chgData name="Kshitij Tandon" userId="15634347-acbf-4539-84f7-139d21f51226" providerId="ADAL" clId="{0A25E2B8-B0B5-54DF-BADD-6F926CE8A598}" dt="2026-07-06T02:49:29.551" v="203" actId="113"/>
          <ac:spMkLst>
            <pc:docMk/>
            <pc:sldMk cId="2962316723" sldId="321"/>
            <ac:spMk id="5" creationId="{F5208298-E042-9809-0C3B-26B64D9E31E7}"/>
          </ac:spMkLst>
        </pc:spChg>
      </pc:sldChg>
      <pc:sldChg chg="addSp delSp modSp mod">
        <pc:chgData name="Kshitij Tandon" userId="15634347-acbf-4539-84f7-139d21f51226" providerId="ADAL" clId="{0A25E2B8-B0B5-54DF-BADD-6F926CE8A598}" dt="2026-06-30T03:52:01.847" v="33" actId="207"/>
        <pc:sldMkLst>
          <pc:docMk/>
          <pc:sldMk cId="2400250369" sldId="324"/>
        </pc:sldMkLst>
        <pc:spChg chg="mod">
          <ac:chgData name="Kshitij Tandon" userId="15634347-acbf-4539-84f7-139d21f51226" providerId="ADAL" clId="{0A25E2B8-B0B5-54DF-BADD-6F926CE8A598}" dt="2026-06-30T03:52:01.847" v="33" actId="207"/>
          <ac:spMkLst>
            <pc:docMk/>
            <pc:sldMk cId="2400250369" sldId="324"/>
            <ac:spMk id="8" creationId="{28076344-6ADE-FF7C-4B7E-C05E456008AF}"/>
          </ac:spMkLst>
        </pc:spChg>
      </pc:sldChg>
      <pc:sldChg chg="addSp modSp mod">
        <pc:chgData name="Kshitij Tandon" userId="15634347-acbf-4539-84f7-139d21f51226" providerId="ADAL" clId="{0A25E2B8-B0B5-54DF-BADD-6F926CE8A598}" dt="2026-06-30T03:51:54.029" v="31" actId="20577"/>
        <pc:sldMkLst>
          <pc:docMk/>
          <pc:sldMk cId="3877203574" sldId="325"/>
        </pc:sldMkLst>
        <pc:spChg chg="mod">
          <ac:chgData name="Kshitij Tandon" userId="15634347-acbf-4539-84f7-139d21f51226" providerId="ADAL" clId="{0A25E2B8-B0B5-54DF-BADD-6F926CE8A598}" dt="2026-06-30T03:51:54.029" v="31" actId="20577"/>
          <ac:spMkLst>
            <pc:docMk/>
            <pc:sldMk cId="3877203574" sldId="325"/>
            <ac:spMk id="5" creationId="{A24086C4-EF6E-B04C-CE89-1F351A331F1E}"/>
          </ac:spMkLst>
        </pc:spChg>
        <pc:picChg chg="add mod">
          <ac:chgData name="Kshitij Tandon" userId="15634347-acbf-4539-84f7-139d21f51226" providerId="ADAL" clId="{0A25E2B8-B0B5-54DF-BADD-6F926CE8A598}" dt="2026-06-30T03:51:47.374" v="3"/>
          <ac:picMkLst>
            <pc:docMk/>
            <pc:sldMk cId="3877203574" sldId="325"/>
            <ac:picMk id="2" creationId="{44ABEF6E-96E6-D978-C955-D9C4269A4A98}"/>
          </ac:picMkLst>
        </pc:picChg>
      </pc:sldChg>
      <pc:sldChg chg="addSp delSp modSp mod">
        <pc:chgData name="Kshitij Tandon" userId="15634347-acbf-4539-84f7-139d21f51226" providerId="ADAL" clId="{0A25E2B8-B0B5-54DF-BADD-6F926CE8A598}" dt="2026-07-01T02:06:17.840" v="59" actId="478"/>
        <pc:sldMkLst>
          <pc:docMk/>
          <pc:sldMk cId="3138601588" sldId="326"/>
        </pc:sldMkLst>
      </pc:sldChg>
      <pc:sldChg chg="delSp modSp new mod">
        <pc:chgData name="Kshitij Tandon" userId="15634347-acbf-4539-84f7-139d21f51226" providerId="ADAL" clId="{0A25E2B8-B0B5-54DF-BADD-6F926CE8A598}" dt="2026-07-06T02:49:39.893" v="205" actId="478"/>
        <pc:sldMkLst>
          <pc:docMk/>
          <pc:sldMk cId="4176680289" sldId="332"/>
        </pc:sldMkLst>
        <pc:spChg chg="del mod">
          <ac:chgData name="Kshitij Tandon" userId="15634347-acbf-4539-84f7-139d21f51226" providerId="ADAL" clId="{0A25E2B8-B0B5-54DF-BADD-6F926CE8A598}" dt="2026-07-06T02:49:37.636" v="204" actId="478"/>
          <ac:spMkLst>
            <pc:docMk/>
            <pc:sldMk cId="4176680289" sldId="332"/>
            <ac:spMk id="2" creationId="{35A9F5B1-6E6E-24C1-5A45-6F2973F5AAED}"/>
          </ac:spMkLst>
        </pc:spChg>
        <pc:spChg chg="del">
          <ac:chgData name="Kshitij Tandon" userId="15634347-acbf-4539-84f7-139d21f51226" providerId="ADAL" clId="{0A25E2B8-B0B5-54DF-BADD-6F926CE8A598}" dt="2026-07-06T02:49:39.893" v="205" actId="478"/>
          <ac:spMkLst>
            <pc:docMk/>
            <pc:sldMk cId="4176680289" sldId="332"/>
            <ac:spMk id="3" creationId="{D4DB4155-ABEF-E329-DA2A-8CFA627C8A4D}"/>
          </ac:spMkLst>
        </pc:spChg>
        <pc:spChg chg="mod">
          <ac:chgData name="Kshitij Tandon" userId="15634347-acbf-4539-84f7-139d21f51226" providerId="ADAL" clId="{0A25E2B8-B0B5-54DF-BADD-6F926CE8A598}" dt="2026-07-06T02:49:26.675" v="202" actId="113"/>
          <ac:spMkLst>
            <pc:docMk/>
            <pc:sldMk cId="4176680289" sldId="332"/>
            <ac:spMk id="4" creationId="{8A3F70E5-32DD-99A8-ABB2-49E104792566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2776128-E95C-D045-AE9A-BAEE154ED097}" type="datetimeFigureOut">
              <a:rPr lang="en-US" smtClean="0"/>
              <a:t>7/6/26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B3DE169-6255-584E-8599-02F3AF75F0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756404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0C067AA-C6E9-418C-A333-FC9B7AAB0648}" type="slidenum">
              <a:rPr lang="en-AU" smtClean="0"/>
              <a:pPr/>
              <a:t>1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46859341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DA45DD-FA75-C128-30A9-6EBDA3D8F4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DB03631-E38A-E14C-E9C1-AC20E8E2C7B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8E680B-80D3-C816-2439-A52C83714D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sz="1200" kern="1200" dirty="0">
              <a:solidFill>
                <a:schemeClr val="tx1"/>
              </a:solidFill>
              <a:effectLst/>
              <a:latin typeface="Segoe UI Light" panose="020B0502040204020203" pitchFamily="34" charset="0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8CC1B0-A809-92D9-8F2F-2E170427FE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0C067AA-C6E9-418C-A333-FC9B7AAB0648}" type="slidenum">
              <a:rPr lang="en-AU" smtClean="0"/>
              <a:pPr/>
              <a:t>2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55875853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DA45DD-FA75-C128-30A9-6EBDA3D8F4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DB03631-E38A-E14C-E9C1-AC20E8E2C7B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8E680B-80D3-C816-2439-A52C83714D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AU" sz="1200" kern="1200" dirty="0">
                <a:solidFill>
                  <a:schemeClr val="tx1"/>
                </a:solidFill>
                <a:effectLst/>
                <a:latin typeface="Segoe UI Light" panose="020B0502040204020203" pitchFamily="34" charset="0"/>
                <a:ea typeface="+mn-ea"/>
                <a:cs typeface="+mn-cs"/>
              </a:rPr>
              <a:t>Naïve T cell + APC (MHCI) -&gt; activated T cell </a:t>
            </a:r>
          </a:p>
          <a:p>
            <a:endParaRPr lang="en-AU" sz="1200" kern="1200" dirty="0">
              <a:solidFill>
                <a:schemeClr val="tx1"/>
              </a:solidFill>
              <a:effectLst/>
              <a:latin typeface="Segoe UI Light" panose="020B0502040204020203" pitchFamily="34" charset="0"/>
              <a:ea typeface="+mn-ea"/>
              <a:cs typeface="+mn-cs"/>
            </a:endParaRPr>
          </a:p>
          <a:p>
            <a:r>
              <a:rPr lang="en-AU" sz="1200" kern="1200" dirty="0">
                <a:solidFill>
                  <a:schemeClr val="tx1"/>
                </a:solidFill>
                <a:effectLst/>
                <a:latin typeface="Segoe UI Light" panose="020B0502040204020203" pitchFamily="34" charset="0"/>
                <a:ea typeface="+mn-ea"/>
                <a:cs typeface="+mn-cs"/>
              </a:rPr>
              <a:t>Activated T cell can acquire a spectrum of states with variable phenotypes and functions.</a:t>
            </a:r>
          </a:p>
          <a:p>
            <a:endParaRPr lang="en-AU" sz="1200" kern="1200" dirty="0">
              <a:solidFill>
                <a:schemeClr val="tx1"/>
              </a:solidFill>
              <a:effectLst/>
              <a:latin typeface="Segoe UI Light" panose="020B0502040204020203" pitchFamily="34" charset="0"/>
              <a:ea typeface="+mn-ea"/>
              <a:cs typeface="+mn-cs"/>
            </a:endParaRPr>
          </a:p>
          <a:p>
            <a:r>
              <a:rPr lang="en-AU" sz="1200" kern="1200" dirty="0">
                <a:solidFill>
                  <a:schemeClr val="tx1"/>
                </a:solidFill>
                <a:effectLst/>
                <a:latin typeface="Segoe UI Light" panose="020B0502040204020203" pitchFamily="34" charset="0"/>
                <a:ea typeface="+mn-ea"/>
                <a:cs typeface="+mn-cs"/>
              </a:rPr>
              <a:t>During initial response to infection, a large pool of short-lived effector cells (KLRG1) are generated. These cytotoxic cells deal with the immediate threat and then die during the subsequent contraction phase.</a:t>
            </a:r>
          </a:p>
          <a:p>
            <a:endParaRPr lang="en-AU" sz="1200" kern="1200" dirty="0">
              <a:solidFill>
                <a:schemeClr val="tx1"/>
              </a:solidFill>
              <a:effectLst/>
              <a:latin typeface="Segoe UI Light" panose="020B0502040204020203" pitchFamily="34" charset="0"/>
              <a:ea typeface="+mn-ea"/>
              <a:cs typeface="+mn-cs"/>
            </a:endParaRPr>
          </a:p>
          <a:p>
            <a:r>
              <a:rPr lang="en-AU" sz="1200" kern="1200" dirty="0">
                <a:solidFill>
                  <a:schemeClr val="tx1"/>
                </a:solidFill>
                <a:effectLst/>
                <a:latin typeface="Segoe UI Light" panose="020B0502040204020203" pitchFamily="34" charset="0"/>
                <a:ea typeface="+mn-ea"/>
                <a:cs typeface="+mn-cs"/>
              </a:rPr>
              <a:t>Another subset of T cells are programmed for longevity and plasticity. These are the CD127+ positive memory precursor effector cells which persist following an infection and confer immunological memory. </a:t>
            </a:r>
          </a:p>
          <a:p>
            <a:endParaRPr lang="en-AU" sz="1200" kern="1200" dirty="0">
              <a:solidFill>
                <a:schemeClr val="tx1"/>
              </a:solidFill>
              <a:effectLst/>
              <a:latin typeface="Segoe UI Light" panose="020B0502040204020203" pitchFamily="34" charset="0"/>
              <a:ea typeface="+mn-ea"/>
              <a:cs typeface="+mn-cs"/>
            </a:endParaRPr>
          </a:p>
          <a:p>
            <a:endParaRPr lang="en-AU" sz="1200" kern="1200" dirty="0">
              <a:solidFill>
                <a:schemeClr val="tx1"/>
              </a:solidFill>
              <a:effectLst/>
              <a:latin typeface="Segoe UI Light" panose="020B0502040204020203" pitchFamily="34" charset="0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8CC1B0-A809-92D9-8F2F-2E170427FE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0C067AA-C6E9-418C-A333-FC9B7AAB0648}" type="slidenum">
              <a:rPr lang="en-AU" smtClean="0"/>
              <a:pPr/>
              <a:t>4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55875853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9D38E9-4A6C-4714-A0C4-3211EA7434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F77EEE2-A380-02AE-E524-8DAA177D449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78E85A1-E65F-0646-8088-856C313197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AU" sz="1200" kern="1200" dirty="0">
                <a:solidFill>
                  <a:schemeClr val="tx1"/>
                </a:solidFill>
                <a:effectLst/>
                <a:latin typeface="Segoe UI Light" panose="020B0502040204020203" pitchFamily="34" charset="0"/>
                <a:ea typeface="+mn-ea"/>
                <a:cs typeface="+mn-cs"/>
              </a:rPr>
              <a:t>Naïve T cell + APC (MHCI) -&gt; activated T cell </a:t>
            </a:r>
          </a:p>
          <a:p>
            <a:endParaRPr lang="en-AU" sz="1200" kern="1200" dirty="0">
              <a:solidFill>
                <a:schemeClr val="tx1"/>
              </a:solidFill>
              <a:effectLst/>
              <a:latin typeface="Segoe UI Light" panose="020B0502040204020203" pitchFamily="34" charset="0"/>
              <a:ea typeface="+mn-ea"/>
              <a:cs typeface="+mn-cs"/>
            </a:endParaRPr>
          </a:p>
          <a:p>
            <a:r>
              <a:rPr lang="en-AU" sz="1200" kern="1200" dirty="0">
                <a:solidFill>
                  <a:schemeClr val="tx1"/>
                </a:solidFill>
                <a:effectLst/>
                <a:latin typeface="Segoe UI Light" panose="020B0502040204020203" pitchFamily="34" charset="0"/>
                <a:ea typeface="+mn-ea"/>
                <a:cs typeface="+mn-cs"/>
              </a:rPr>
              <a:t>Activated T cell can acquire a spectrum of states with variable phenotypes and functions.</a:t>
            </a:r>
          </a:p>
          <a:p>
            <a:endParaRPr lang="en-AU" sz="1200" kern="1200" dirty="0">
              <a:solidFill>
                <a:schemeClr val="tx1"/>
              </a:solidFill>
              <a:effectLst/>
              <a:latin typeface="Segoe UI Light" panose="020B0502040204020203" pitchFamily="34" charset="0"/>
              <a:ea typeface="+mn-ea"/>
              <a:cs typeface="+mn-cs"/>
            </a:endParaRPr>
          </a:p>
          <a:p>
            <a:r>
              <a:rPr lang="en-AU" sz="1200" kern="1200" dirty="0">
                <a:solidFill>
                  <a:schemeClr val="tx1"/>
                </a:solidFill>
                <a:effectLst/>
                <a:latin typeface="Segoe UI Light" panose="020B0502040204020203" pitchFamily="34" charset="0"/>
                <a:ea typeface="+mn-ea"/>
                <a:cs typeface="+mn-cs"/>
              </a:rPr>
              <a:t>During initial response to infection, a large pool of short-lived effector cells (KLRG1) are generated. These cytotoxic cells deal with the immediate threat and then die during the subsequent contraction phase.</a:t>
            </a:r>
          </a:p>
          <a:p>
            <a:endParaRPr lang="en-AU" sz="1200" kern="1200" dirty="0">
              <a:solidFill>
                <a:schemeClr val="tx1"/>
              </a:solidFill>
              <a:effectLst/>
              <a:latin typeface="Segoe UI Light" panose="020B0502040204020203" pitchFamily="34" charset="0"/>
              <a:ea typeface="+mn-ea"/>
              <a:cs typeface="+mn-cs"/>
            </a:endParaRPr>
          </a:p>
          <a:p>
            <a:r>
              <a:rPr lang="en-AU" sz="1200" kern="1200" dirty="0">
                <a:solidFill>
                  <a:schemeClr val="tx1"/>
                </a:solidFill>
                <a:effectLst/>
                <a:latin typeface="Segoe UI Light" panose="020B0502040204020203" pitchFamily="34" charset="0"/>
                <a:ea typeface="+mn-ea"/>
                <a:cs typeface="+mn-cs"/>
              </a:rPr>
              <a:t>Another subset of T cells are programmed for longevity and plasticity. These are the CD127+ positive memory precursor effector cells which persist following an infection and confer immunological memory. </a:t>
            </a:r>
          </a:p>
          <a:p>
            <a:endParaRPr lang="en-AU" sz="1200" kern="1200" dirty="0">
              <a:solidFill>
                <a:schemeClr val="tx1"/>
              </a:solidFill>
              <a:effectLst/>
              <a:latin typeface="Segoe UI Light" panose="020B0502040204020203" pitchFamily="34" charset="0"/>
              <a:ea typeface="+mn-ea"/>
              <a:cs typeface="+mn-cs"/>
            </a:endParaRPr>
          </a:p>
          <a:p>
            <a:endParaRPr lang="en-AU" sz="1200" kern="1200" dirty="0">
              <a:solidFill>
                <a:schemeClr val="tx1"/>
              </a:solidFill>
              <a:effectLst/>
              <a:latin typeface="Segoe UI Light" panose="020B0502040204020203" pitchFamily="34" charset="0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4ED4C90-670A-3FFF-3490-7C2D4E3EBC3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0C067AA-C6E9-418C-A333-FC9B7AAB0648}" type="slidenum">
              <a:rPr lang="en-AU" smtClean="0"/>
              <a:pPr/>
              <a:t>5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98175040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DA45DD-FA75-C128-30A9-6EBDA3D8F4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DB03631-E38A-E14C-E9C1-AC20E8E2C7B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8E680B-80D3-C816-2439-A52C83714D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AU" sz="1200" kern="1200" dirty="0">
                <a:solidFill>
                  <a:schemeClr val="tx1"/>
                </a:solidFill>
                <a:effectLst/>
                <a:latin typeface="Segoe UI Light" panose="020B0502040204020203" pitchFamily="34" charset="0"/>
                <a:ea typeface="+mn-ea"/>
                <a:cs typeface="+mn-cs"/>
              </a:rPr>
              <a:t>Naïve T cell + APC (MHCI) -&gt; activated T cell </a:t>
            </a:r>
          </a:p>
          <a:p>
            <a:endParaRPr lang="en-AU" sz="1200" kern="1200" dirty="0">
              <a:solidFill>
                <a:schemeClr val="tx1"/>
              </a:solidFill>
              <a:effectLst/>
              <a:latin typeface="Segoe UI Light" panose="020B0502040204020203" pitchFamily="34" charset="0"/>
              <a:ea typeface="+mn-ea"/>
              <a:cs typeface="+mn-cs"/>
            </a:endParaRPr>
          </a:p>
          <a:p>
            <a:r>
              <a:rPr lang="en-AU" sz="1200" kern="1200" dirty="0">
                <a:solidFill>
                  <a:schemeClr val="tx1"/>
                </a:solidFill>
                <a:effectLst/>
                <a:latin typeface="Segoe UI Light" panose="020B0502040204020203" pitchFamily="34" charset="0"/>
                <a:ea typeface="+mn-ea"/>
                <a:cs typeface="+mn-cs"/>
              </a:rPr>
              <a:t>Activated T cell can acquire a spectrum of states with variable phenotypes and functions.</a:t>
            </a:r>
          </a:p>
          <a:p>
            <a:endParaRPr lang="en-AU" sz="1200" kern="1200" dirty="0">
              <a:solidFill>
                <a:schemeClr val="tx1"/>
              </a:solidFill>
              <a:effectLst/>
              <a:latin typeface="Segoe UI Light" panose="020B0502040204020203" pitchFamily="34" charset="0"/>
              <a:ea typeface="+mn-ea"/>
              <a:cs typeface="+mn-cs"/>
            </a:endParaRPr>
          </a:p>
          <a:p>
            <a:r>
              <a:rPr lang="en-AU" sz="1200" kern="1200" dirty="0">
                <a:solidFill>
                  <a:schemeClr val="tx1"/>
                </a:solidFill>
                <a:effectLst/>
                <a:latin typeface="Segoe UI Light" panose="020B0502040204020203" pitchFamily="34" charset="0"/>
                <a:ea typeface="+mn-ea"/>
                <a:cs typeface="+mn-cs"/>
              </a:rPr>
              <a:t>During initial response to infection, a large pool of short-lived effector cells (KLRG1) are generated. These cytotoxic cells deal with the immediate threat and then die during the subsequent contraction phase.</a:t>
            </a:r>
          </a:p>
          <a:p>
            <a:endParaRPr lang="en-AU" sz="1200" kern="1200" dirty="0">
              <a:solidFill>
                <a:schemeClr val="tx1"/>
              </a:solidFill>
              <a:effectLst/>
              <a:latin typeface="Segoe UI Light" panose="020B0502040204020203" pitchFamily="34" charset="0"/>
              <a:ea typeface="+mn-ea"/>
              <a:cs typeface="+mn-cs"/>
            </a:endParaRPr>
          </a:p>
          <a:p>
            <a:r>
              <a:rPr lang="en-AU" sz="1200" kern="1200" dirty="0">
                <a:solidFill>
                  <a:schemeClr val="tx1"/>
                </a:solidFill>
                <a:effectLst/>
                <a:latin typeface="Segoe UI Light" panose="020B0502040204020203" pitchFamily="34" charset="0"/>
                <a:ea typeface="+mn-ea"/>
                <a:cs typeface="+mn-cs"/>
              </a:rPr>
              <a:t>Another subset of T cells are programmed for longevity and plasticity. These are the CD127+ positive memory precursor effector cells which persist following an infection and confer immunological memory. </a:t>
            </a:r>
          </a:p>
          <a:p>
            <a:endParaRPr lang="en-AU" sz="1200" kern="1200" dirty="0">
              <a:solidFill>
                <a:schemeClr val="tx1"/>
              </a:solidFill>
              <a:effectLst/>
              <a:latin typeface="Segoe UI Light" panose="020B0502040204020203" pitchFamily="34" charset="0"/>
              <a:ea typeface="+mn-ea"/>
              <a:cs typeface="+mn-cs"/>
            </a:endParaRPr>
          </a:p>
          <a:p>
            <a:endParaRPr lang="en-AU" sz="1200" kern="1200" dirty="0">
              <a:solidFill>
                <a:schemeClr val="tx1"/>
              </a:solidFill>
              <a:effectLst/>
              <a:latin typeface="Segoe UI Light" panose="020B0502040204020203" pitchFamily="34" charset="0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8CC1B0-A809-92D9-8F2F-2E170427FE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0C067AA-C6E9-418C-A333-FC9B7AAB0648}" type="slidenum">
              <a:rPr lang="en-AU" smtClean="0"/>
              <a:pPr/>
              <a:t>6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55875853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DA45DD-FA75-C128-30A9-6EBDA3D8F4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DB03631-E38A-E14C-E9C1-AC20E8E2C7B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8E680B-80D3-C816-2439-A52C83714D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AU" sz="1200" kern="1200" dirty="0">
                <a:solidFill>
                  <a:schemeClr val="tx1"/>
                </a:solidFill>
                <a:effectLst/>
                <a:latin typeface="Segoe UI Light" panose="020B0502040204020203" pitchFamily="34" charset="0"/>
                <a:ea typeface="+mn-ea"/>
                <a:cs typeface="+mn-cs"/>
              </a:rPr>
              <a:t>Naïve T cell + APC (MHCI) -&gt; activated T cell </a:t>
            </a:r>
          </a:p>
          <a:p>
            <a:endParaRPr lang="en-AU" sz="1200" kern="1200" dirty="0">
              <a:solidFill>
                <a:schemeClr val="tx1"/>
              </a:solidFill>
              <a:effectLst/>
              <a:latin typeface="Segoe UI Light" panose="020B0502040204020203" pitchFamily="34" charset="0"/>
              <a:ea typeface="+mn-ea"/>
              <a:cs typeface="+mn-cs"/>
            </a:endParaRPr>
          </a:p>
          <a:p>
            <a:r>
              <a:rPr lang="en-AU" sz="1200" kern="1200" dirty="0">
                <a:solidFill>
                  <a:schemeClr val="tx1"/>
                </a:solidFill>
                <a:effectLst/>
                <a:latin typeface="Segoe UI Light" panose="020B0502040204020203" pitchFamily="34" charset="0"/>
                <a:ea typeface="+mn-ea"/>
                <a:cs typeface="+mn-cs"/>
              </a:rPr>
              <a:t>Activated T cell can acquire a spectrum of states with variable phenotypes and functions.</a:t>
            </a:r>
          </a:p>
          <a:p>
            <a:endParaRPr lang="en-AU" sz="1200" kern="1200" dirty="0">
              <a:solidFill>
                <a:schemeClr val="tx1"/>
              </a:solidFill>
              <a:effectLst/>
              <a:latin typeface="Segoe UI Light" panose="020B0502040204020203" pitchFamily="34" charset="0"/>
              <a:ea typeface="+mn-ea"/>
              <a:cs typeface="+mn-cs"/>
            </a:endParaRPr>
          </a:p>
          <a:p>
            <a:r>
              <a:rPr lang="en-AU" sz="1200" kern="1200" dirty="0">
                <a:solidFill>
                  <a:schemeClr val="tx1"/>
                </a:solidFill>
                <a:effectLst/>
                <a:latin typeface="Segoe UI Light" panose="020B0502040204020203" pitchFamily="34" charset="0"/>
                <a:ea typeface="+mn-ea"/>
                <a:cs typeface="+mn-cs"/>
              </a:rPr>
              <a:t>During initial response to infection, a large pool of short-lived effector cells (KLRG1) are generated. These cytotoxic cells deal with the immediate threat and then die during the subsequent contraction phase.</a:t>
            </a:r>
          </a:p>
          <a:p>
            <a:endParaRPr lang="en-AU" sz="1200" kern="1200" dirty="0">
              <a:solidFill>
                <a:schemeClr val="tx1"/>
              </a:solidFill>
              <a:effectLst/>
              <a:latin typeface="Segoe UI Light" panose="020B0502040204020203" pitchFamily="34" charset="0"/>
              <a:ea typeface="+mn-ea"/>
              <a:cs typeface="+mn-cs"/>
            </a:endParaRPr>
          </a:p>
          <a:p>
            <a:r>
              <a:rPr lang="en-AU" sz="1200" kern="1200" dirty="0">
                <a:solidFill>
                  <a:schemeClr val="tx1"/>
                </a:solidFill>
                <a:effectLst/>
                <a:latin typeface="Segoe UI Light" panose="020B0502040204020203" pitchFamily="34" charset="0"/>
                <a:ea typeface="+mn-ea"/>
                <a:cs typeface="+mn-cs"/>
              </a:rPr>
              <a:t>Another subset of T cells are programmed for longevity and plasticity. These are the CD127+ positive memory precursor effector cells which persist following an infection and confer immunological memory. </a:t>
            </a:r>
          </a:p>
          <a:p>
            <a:endParaRPr lang="en-AU" sz="1200" kern="1200" dirty="0">
              <a:solidFill>
                <a:schemeClr val="tx1"/>
              </a:solidFill>
              <a:effectLst/>
              <a:latin typeface="Segoe UI Light" panose="020B0502040204020203" pitchFamily="34" charset="0"/>
              <a:ea typeface="+mn-ea"/>
              <a:cs typeface="+mn-cs"/>
            </a:endParaRPr>
          </a:p>
          <a:p>
            <a:endParaRPr lang="en-AU" sz="1200" kern="1200" dirty="0">
              <a:solidFill>
                <a:schemeClr val="tx1"/>
              </a:solidFill>
              <a:effectLst/>
              <a:latin typeface="Segoe UI Light" panose="020B0502040204020203" pitchFamily="34" charset="0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8CC1B0-A809-92D9-8F2F-2E170427FE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0C067AA-C6E9-418C-A333-FC9B7AAB0648}" type="slidenum">
              <a:rPr lang="en-AU" smtClean="0"/>
              <a:pPr/>
              <a:t>7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55875853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DA45DD-FA75-C128-30A9-6EBDA3D8F4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DB03631-E38A-E14C-E9C1-AC20E8E2C7B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8E680B-80D3-C816-2439-A52C83714D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AU" sz="1200" kern="1200" dirty="0">
                <a:solidFill>
                  <a:schemeClr val="tx1"/>
                </a:solidFill>
                <a:effectLst/>
                <a:latin typeface="Segoe UI Light" panose="020B0502040204020203" pitchFamily="34" charset="0"/>
                <a:ea typeface="+mn-ea"/>
                <a:cs typeface="+mn-cs"/>
              </a:rPr>
              <a:t>Naïve T cell + APC (MHCI) -&gt; activated T cell </a:t>
            </a:r>
          </a:p>
          <a:p>
            <a:endParaRPr lang="en-AU" sz="1200" kern="1200" dirty="0">
              <a:solidFill>
                <a:schemeClr val="tx1"/>
              </a:solidFill>
              <a:effectLst/>
              <a:latin typeface="Segoe UI Light" panose="020B0502040204020203" pitchFamily="34" charset="0"/>
              <a:ea typeface="+mn-ea"/>
              <a:cs typeface="+mn-cs"/>
            </a:endParaRPr>
          </a:p>
          <a:p>
            <a:r>
              <a:rPr lang="en-AU" sz="1200" kern="1200" dirty="0">
                <a:solidFill>
                  <a:schemeClr val="tx1"/>
                </a:solidFill>
                <a:effectLst/>
                <a:latin typeface="Segoe UI Light" panose="020B0502040204020203" pitchFamily="34" charset="0"/>
                <a:ea typeface="+mn-ea"/>
                <a:cs typeface="+mn-cs"/>
              </a:rPr>
              <a:t>Activated T cell can acquire a spectrum of states with variable phenotypes and functions.</a:t>
            </a:r>
          </a:p>
          <a:p>
            <a:endParaRPr lang="en-AU" sz="1200" kern="1200" dirty="0">
              <a:solidFill>
                <a:schemeClr val="tx1"/>
              </a:solidFill>
              <a:effectLst/>
              <a:latin typeface="Segoe UI Light" panose="020B0502040204020203" pitchFamily="34" charset="0"/>
              <a:ea typeface="+mn-ea"/>
              <a:cs typeface="+mn-cs"/>
            </a:endParaRPr>
          </a:p>
          <a:p>
            <a:r>
              <a:rPr lang="en-AU" sz="1200" kern="1200" dirty="0">
                <a:solidFill>
                  <a:schemeClr val="tx1"/>
                </a:solidFill>
                <a:effectLst/>
                <a:latin typeface="Segoe UI Light" panose="020B0502040204020203" pitchFamily="34" charset="0"/>
                <a:ea typeface="+mn-ea"/>
                <a:cs typeface="+mn-cs"/>
              </a:rPr>
              <a:t>During initial response to infection, a large pool of short-lived effector cells (KLRG1) are generated. These cytotoxic cells deal with the immediate threat and then die during the subsequent contraction phase.</a:t>
            </a:r>
          </a:p>
          <a:p>
            <a:endParaRPr lang="en-AU" sz="1200" kern="1200" dirty="0">
              <a:solidFill>
                <a:schemeClr val="tx1"/>
              </a:solidFill>
              <a:effectLst/>
              <a:latin typeface="Segoe UI Light" panose="020B0502040204020203" pitchFamily="34" charset="0"/>
              <a:ea typeface="+mn-ea"/>
              <a:cs typeface="+mn-cs"/>
            </a:endParaRPr>
          </a:p>
          <a:p>
            <a:r>
              <a:rPr lang="en-AU" sz="1200" kern="1200" dirty="0">
                <a:solidFill>
                  <a:schemeClr val="tx1"/>
                </a:solidFill>
                <a:effectLst/>
                <a:latin typeface="Segoe UI Light" panose="020B0502040204020203" pitchFamily="34" charset="0"/>
                <a:ea typeface="+mn-ea"/>
                <a:cs typeface="+mn-cs"/>
              </a:rPr>
              <a:t>Another subset of T cells are programmed for longevity and plasticity. These are the CD127+ positive memory precursor effector cells which persist following an infection and confer immunological memory. </a:t>
            </a:r>
          </a:p>
          <a:p>
            <a:endParaRPr lang="en-AU" sz="1200" kern="1200" dirty="0">
              <a:solidFill>
                <a:schemeClr val="tx1"/>
              </a:solidFill>
              <a:effectLst/>
              <a:latin typeface="Segoe UI Light" panose="020B0502040204020203" pitchFamily="34" charset="0"/>
              <a:ea typeface="+mn-ea"/>
              <a:cs typeface="+mn-cs"/>
            </a:endParaRPr>
          </a:p>
          <a:p>
            <a:endParaRPr lang="en-AU" sz="1200" kern="1200" dirty="0">
              <a:solidFill>
                <a:schemeClr val="tx1"/>
              </a:solidFill>
              <a:effectLst/>
              <a:latin typeface="Segoe UI Light" panose="020B0502040204020203" pitchFamily="34" charset="0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8CC1B0-A809-92D9-8F2F-2E170427FE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0C067AA-C6E9-418C-A333-FC9B7AAB0648}" type="slidenum">
              <a:rPr lang="en-AU" smtClean="0"/>
              <a:pPr/>
              <a:t>8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55875853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DA45DD-FA75-C128-30A9-6EBDA3D8F4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DB03631-E38A-E14C-E9C1-AC20E8E2C7B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8E680B-80D3-C816-2439-A52C83714D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AU" sz="1200" kern="1200" dirty="0">
                <a:solidFill>
                  <a:schemeClr val="tx1"/>
                </a:solidFill>
                <a:effectLst/>
                <a:latin typeface="Segoe UI Light" panose="020B0502040204020203" pitchFamily="34" charset="0"/>
                <a:ea typeface="+mn-ea"/>
                <a:cs typeface="+mn-cs"/>
              </a:rPr>
              <a:t>Naïve T cell + APC (MHCI) -&gt; activated T cell </a:t>
            </a:r>
          </a:p>
          <a:p>
            <a:endParaRPr lang="en-AU" sz="1200" kern="1200" dirty="0">
              <a:solidFill>
                <a:schemeClr val="tx1"/>
              </a:solidFill>
              <a:effectLst/>
              <a:latin typeface="Segoe UI Light" panose="020B0502040204020203" pitchFamily="34" charset="0"/>
              <a:ea typeface="+mn-ea"/>
              <a:cs typeface="+mn-cs"/>
            </a:endParaRPr>
          </a:p>
          <a:p>
            <a:r>
              <a:rPr lang="en-AU" sz="1200" kern="1200" dirty="0">
                <a:solidFill>
                  <a:schemeClr val="tx1"/>
                </a:solidFill>
                <a:effectLst/>
                <a:latin typeface="Segoe UI Light" panose="020B0502040204020203" pitchFamily="34" charset="0"/>
                <a:ea typeface="+mn-ea"/>
                <a:cs typeface="+mn-cs"/>
              </a:rPr>
              <a:t>Activated T cell can acquire a spectrum of states with variable phenotypes and functions.</a:t>
            </a:r>
          </a:p>
          <a:p>
            <a:endParaRPr lang="en-AU" sz="1200" kern="1200" dirty="0">
              <a:solidFill>
                <a:schemeClr val="tx1"/>
              </a:solidFill>
              <a:effectLst/>
              <a:latin typeface="Segoe UI Light" panose="020B0502040204020203" pitchFamily="34" charset="0"/>
              <a:ea typeface="+mn-ea"/>
              <a:cs typeface="+mn-cs"/>
            </a:endParaRPr>
          </a:p>
          <a:p>
            <a:r>
              <a:rPr lang="en-AU" sz="1200" kern="1200" dirty="0">
                <a:solidFill>
                  <a:schemeClr val="tx1"/>
                </a:solidFill>
                <a:effectLst/>
                <a:latin typeface="Segoe UI Light" panose="020B0502040204020203" pitchFamily="34" charset="0"/>
                <a:ea typeface="+mn-ea"/>
                <a:cs typeface="+mn-cs"/>
              </a:rPr>
              <a:t>During initial response to infection, a large pool of short-lived effector cells (KLRG1) are generated. These cytotoxic cells deal with the immediate threat and then die during the subsequent contraction phase.</a:t>
            </a:r>
          </a:p>
          <a:p>
            <a:endParaRPr lang="en-AU" sz="1200" kern="1200" dirty="0">
              <a:solidFill>
                <a:schemeClr val="tx1"/>
              </a:solidFill>
              <a:effectLst/>
              <a:latin typeface="Segoe UI Light" panose="020B0502040204020203" pitchFamily="34" charset="0"/>
              <a:ea typeface="+mn-ea"/>
              <a:cs typeface="+mn-cs"/>
            </a:endParaRPr>
          </a:p>
          <a:p>
            <a:r>
              <a:rPr lang="en-AU" sz="1200" kern="1200" dirty="0">
                <a:solidFill>
                  <a:schemeClr val="tx1"/>
                </a:solidFill>
                <a:effectLst/>
                <a:latin typeface="Segoe UI Light" panose="020B0502040204020203" pitchFamily="34" charset="0"/>
                <a:ea typeface="+mn-ea"/>
                <a:cs typeface="+mn-cs"/>
              </a:rPr>
              <a:t>Another subset of T cells are programmed for longevity and plasticity. These are the CD127+ positive memory precursor effector cells which persist following an infection and confer immunological memory. </a:t>
            </a:r>
          </a:p>
          <a:p>
            <a:endParaRPr lang="en-AU" sz="1200" kern="1200" dirty="0">
              <a:solidFill>
                <a:schemeClr val="tx1"/>
              </a:solidFill>
              <a:effectLst/>
              <a:latin typeface="Segoe UI Light" panose="020B0502040204020203" pitchFamily="34" charset="0"/>
              <a:ea typeface="+mn-ea"/>
              <a:cs typeface="+mn-cs"/>
            </a:endParaRPr>
          </a:p>
          <a:p>
            <a:endParaRPr lang="en-AU" sz="1200" kern="1200" dirty="0">
              <a:solidFill>
                <a:schemeClr val="tx1"/>
              </a:solidFill>
              <a:effectLst/>
              <a:latin typeface="Segoe UI Light" panose="020B0502040204020203" pitchFamily="34" charset="0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8CC1B0-A809-92D9-8F2F-2E170427FE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0C067AA-C6E9-418C-A333-FC9B7AAB0648}" type="slidenum">
              <a:rPr lang="en-AU" smtClean="0"/>
              <a:pPr/>
              <a:t>9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55875853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DA45DD-FA75-C128-30A9-6EBDA3D8F4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DB03631-E38A-E14C-E9C1-AC20E8E2C7B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8E680B-80D3-C816-2439-A52C83714D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AU" sz="1200" kern="1200" dirty="0">
                <a:solidFill>
                  <a:schemeClr val="tx1"/>
                </a:solidFill>
                <a:effectLst/>
                <a:latin typeface="Segoe UI Light" panose="020B0502040204020203" pitchFamily="34" charset="0"/>
                <a:ea typeface="+mn-ea"/>
                <a:cs typeface="+mn-cs"/>
              </a:rPr>
              <a:t>Naïve T cell + APC (MHCI) -&gt; activated T cell </a:t>
            </a:r>
          </a:p>
          <a:p>
            <a:endParaRPr lang="en-AU" sz="1200" kern="1200" dirty="0">
              <a:solidFill>
                <a:schemeClr val="tx1"/>
              </a:solidFill>
              <a:effectLst/>
              <a:latin typeface="Segoe UI Light" panose="020B0502040204020203" pitchFamily="34" charset="0"/>
              <a:ea typeface="+mn-ea"/>
              <a:cs typeface="+mn-cs"/>
            </a:endParaRPr>
          </a:p>
          <a:p>
            <a:r>
              <a:rPr lang="en-AU" sz="1200" kern="1200" dirty="0">
                <a:solidFill>
                  <a:schemeClr val="tx1"/>
                </a:solidFill>
                <a:effectLst/>
                <a:latin typeface="Segoe UI Light" panose="020B0502040204020203" pitchFamily="34" charset="0"/>
                <a:ea typeface="+mn-ea"/>
                <a:cs typeface="+mn-cs"/>
              </a:rPr>
              <a:t>Activated T cell can acquire a spectrum of states with variable phenotypes and functions.</a:t>
            </a:r>
          </a:p>
          <a:p>
            <a:endParaRPr lang="en-AU" sz="1200" kern="1200" dirty="0">
              <a:solidFill>
                <a:schemeClr val="tx1"/>
              </a:solidFill>
              <a:effectLst/>
              <a:latin typeface="Segoe UI Light" panose="020B0502040204020203" pitchFamily="34" charset="0"/>
              <a:ea typeface="+mn-ea"/>
              <a:cs typeface="+mn-cs"/>
            </a:endParaRPr>
          </a:p>
          <a:p>
            <a:r>
              <a:rPr lang="en-AU" sz="1200" kern="1200" dirty="0">
                <a:solidFill>
                  <a:schemeClr val="tx1"/>
                </a:solidFill>
                <a:effectLst/>
                <a:latin typeface="Segoe UI Light" panose="020B0502040204020203" pitchFamily="34" charset="0"/>
                <a:ea typeface="+mn-ea"/>
                <a:cs typeface="+mn-cs"/>
              </a:rPr>
              <a:t>During initial response to infection, a large pool of short-lived effector cells (KLRG1) are generated. These cytotoxic cells deal with the immediate threat and then die during the subsequent contraction phase.</a:t>
            </a:r>
          </a:p>
          <a:p>
            <a:endParaRPr lang="en-AU" sz="1200" kern="1200" dirty="0">
              <a:solidFill>
                <a:schemeClr val="tx1"/>
              </a:solidFill>
              <a:effectLst/>
              <a:latin typeface="Segoe UI Light" panose="020B0502040204020203" pitchFamily="34" charset="0"/>
              <a:ea typeface="+mn-ea"/>
              <a:cs typeface="+mn-cs"/>
            </a:endParaRPr>
          </a:p>
          <a:p>
            <a:r>
              <a:rPr lang="en-AU" sz="1200" kern="1200" dirty="0">
                <a:solidFill>
                  <a:schemeClr val="tx1"/>
                </a:solidFill>
                <a:effectLst/>
                <a:latin typeface="Segoe UI Light" panose="020B0502040204020203" pitchFamily="34" charset="0"/>
                <a:ea typeface="+mn-ea"/>
                <a:cs typeface="+mn-cs"/>
              </a:rPr>
              <a:t>Another subset of T cells are programmed for longevity and plasticity. These are the CD127+ positive memory precursor effector cells which persist following an infection and confer immunological memory. </a:t>
            </a:r>
          </a:p>
          <a:p>
            <a:endParaRPr lang="en-AU" sz="1200" kern="1200" dirty="0">
              <a:solidFill>
                <a:schemeClr val="tx1"/>
              </a:solidFill>
              <a:effectLst/>
              <a:latin typeface="Segoe UI Light" panose="020B0502040204020203" pitchFamily="34" charset="0"/>
              <a:ea typeface="+mn-ea"/>
              <a:cs typeface="+mn-cs"/>
            </a:endParaRPr>
          </a:p>
          <a:p>
            <a:endParaRPr lang="en-AU" sz="1200" kern="1200" dirty="0">
              <a:solidFill>
                <a:schemeClr val="tx1"/>
              </a:solidFill>
              <a:effectLst/>
              <a:latin typeface="Segoe UI Light" panose="020B0502040204020203" pitchFamily="34" charset="0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8CC1B0-A809-92D9-8F2F-2E170427FE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0C067AA-C6E9-418C-A333-FC9B7AAB0648}" type="slidenum">
              <a:rPr lang="en-AU" smtClean="0"/>
              <a:pPr/>
              <a:t>10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55875853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DA45DD-FA75-C128-30A9-6EBDA3D8F4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DB03631-E38A-E14C-E9C1-AC20E8E2C7B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8E680B-80D3-C816-2439-A52C83714D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AU" sz="1200" kern="1200" dirty="0">
                <a:solidFill>
                  <a:schemeClr val="tx1"/>
                </a:solidFill>
                <a:effectLst/>
                <a:latin typeface="Segoe UI Light" panose="020B0502040204020203" pitchFamily="34" charset="0"/>
                <a:ea typeface="+mn-ea"/>
                <a:cs typeface="+mn-cs"/>
              </a:rPr>
              <a:t>Naïve T cell + APC (MHCI) -&gt; activated T cell </a:t>
            </a:r>
          </a:p>
          <a:p>
            <a:endParaRPr lang="en-AU" sz="1200" kern="1200" dirty="0">
              <a:solidFill>
                <a:schemeClr val="tx1"/>
              </a:solidFill>
              <a:effectLst/>
              <a:latin typeface="Segoe UI Light" panose="020B0502040204020203" pitchFamily="34" charset="0"/>
              <a:ea typeface="+mn-ea"/>
              <a:cs typeface="+mn-cs"/>
            </a:endParaRPr>
          </a:p>
          <a:p>
            <a:r>
              <a:rPr lang="en-AU" sz="1200" kern="1200" dirty="0">
                <a:solidFill>
                  <a:schemeClr val="tx1"/>
                </a:solidFill>
                <a:effectLst/>
                <a:latin typeface="Segoe UI Light" panose="020B0502040204020203" pitchFamily="34" charset="0"/>
                <a:ea typeface="+mn-ea"/>
                <a:cs typeface="+mn-cs"/>
              </a:rPr>
              <a:t>Activated T cell can acquire a spectrum of states with variable phenotypes and functions.</a:t>
            </a:r>
          </a:p>
          <a:p>
            <a:endParaRPr lang="en-AU" sz="1200" kern="1200" dirty="0">
              <a:solidFill>
                <a:schemeClr val="tx1"/>
              </a:solidFill>
              <a:effectLst/>
              <a:latin typeface="Segoe UI Light" panose="020B0502040204020203" pitchFamily="34" charset="0"/>
              <a:ea typeface="+mn-ea"/>
              <a:cs typeface="+mn-cs"/>
            </a:endParaRPr>
          </a:p>
          <a:p>
            <a:r>
              <a:rPr lang="en-AU" sz="1200" kern="1200" dirty="0">
                <a:solidFill>
                  <a:schemeClr val="tx1"/>
                </a:solidFill>
                <a:effectLst/>
                <a:latin typeface="Segoe UI Light" panose="020B0502040204020203" pitchFamily="34" charset="0"/>
                <a:ea typeface="+mn-ea"/>
                <a:cs typeface="+mn-cs"/>
              </a:rPr>
              <a:t>During initial response to infection, a large pool of short-lived effector cells (KLRG1) are generated. These cytotoxic cells deal with the immediate threat and then die during the subsequent contraction phase.</a:t>
            </a:r>
          </a:p>
          <a:p>
            <a:endParaRPr lang="en-AU" sz="1200" kern="1200" dirty="0">
              <a:solidFill>
                <a:schemeClr val="tx1"/>
              </a:solidFill>
              <a:effectLst/>
              <a:latin typeface="Segoe UI Light" panose="020B0502040204020203" pitchFamily="34" charset="0"/>
              <a:ea typeface="+mn-ea"/>
              <a:cs typeface="+mn-cs"/>
            </a:endParaRPr>
          </a:p>
          <a:p>
            <a:r>
              <a:rPr lang="en-AU" sz="1200" kern="1200" dirty="0">
                <a:solidFill>
                  <a:schemeClr val="tx1"/>
                </a:solidFill>
                <a:effectLst/>
                <a:latin typeface="Segoe UI Light" panose="020B0502040204020203" pitchFamily="34" charset="0"/>
                <a:ea typeface="+mn-ea"/>
                <a:cs typeface="+mn-cs"/>
              </a:rPr>
              <a:t>Another subset of T cells are programmed for longevity and plasticity. These are the CD127+ positive memory precursor effector cells which persist following an infection and confer immunological memory. </a:t>
            </a:r>
          </a:p>
          <a:p>
            <a:endParaRPr lang="en-AU" sz="1200" kern="1200" dirty="0">
              <a:solidFill>
                <a:schemeClr val="tx1"/>
              </a:solidFill>
              <a:effectLst/>
              <a:latin typeface="Segoe UI Light" panose="020B0502040204020203" pitchFamily="34" charset="0"/>
              <a:ea typeface="+mn-ea"/>
              <a:cs typeface="+mn-cs"/>
            </a:endParaRPr>
          </a:p>
          <a:p>
            <a:endParaRPr lang="en-AU" sz="1200" kern="1200" dirty="0">
              <a:solidFill>
                <a:schemeClr val="tx1"/>
              </a:solidFill>
              <a:effectLst/>
              <a:latin typeface="Segoe UI Light" panose="020B0502040204020203" pitchFamily="34" charset="0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8CC1B0-A809-92D9-8F2F-2E170427FE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0C067AA-C6E9-418C-A333-FC9B7AAB0648}" type="slidenum">
              <a:rPr lang="en-AU" smtClean="0"/>
              <a:pPr/>
              <a:t>11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55875853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DA45DD-FA75-C128-30A9-6EBDA3D8F4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DB03631-E38A-E14C-E9C1-AC20E8E2C7B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8E680B-80D3-C816-2439-A52C83714D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AU" sz="1200" kern="1200" dirty="0">
                <a:solidFill>
                  <a:schemeClr val="tx1"/>
                </a:solidFill>
                <a:effectLst/>
                <a:latin typeface="Segoe UI Light" panose="020B0502040204020203" pitchFamily="34" charset="0"/>
                <a:ea typeface="+mn-ea"/>
                <a:cs typeface="+mn-cs"/>
              </a:rPr>
              <a:t>Naïve T cell + APC (MHCI) -&gt; activated T cell </a:t>
            </a:r>
          </a:p>
          <a:p>
            <a:endParaRPr lang="en-AU" sz="1200" kern="1200" dirty="0">
              <a:solidFill>
                <a:schemeClr val="tx1"/>
              </a:solidFill>
              <a:effectLst/>
              <a:latin typeface="Segoe UI Light" panose="020B0502040204020203" pitchFamily="34" charset="0"/>
              <a:ea typeface="+mn-ea"/>
              <a:cs typeface="+mn-cs"/>
            </a:endParaRPr>
          </a:p>
          <a:p>
            <a:r>
              <a:rPr lang="en-AU" sz="1200" kern="1200" dirty="0">
                <a:solidFill>
                  <a:schemeClr val="tx1"/>
                </a:solidFill>
                <a:effectLst/>
                <a:latin typeface="Segoe UI Light" panose="020B0502040204020203" pitchFamily="34" charset="0"/>
                <a:ea typeface="+mn-ea"/>
                <a:cs typeface="+mn-cs"/>
              </a:rPr>
              <a:t>Activated T cell can acquire a spectrum of states with variable phenotypes and functions.</a:t>
            </a:r>
          </a:p>
          <a:p>
            <a:endParaRPr lang="en-AU" sz="1200" kern="1200" dirty="0">
              <a:solidFill>
                <a:schemeClr val="tx1"/>
              </a:solidFill>
              <a:effectLst/>
              <a:latin typeface="Segoe UI Light" panose="020B0502040204020203" pitchFamily="34" charset="0"/>
              <a:ea typeface="+mn-ea"/>
              <a:cs typeface="+mn-cs"/>
            </a:endParaRPr>
          </a:p>
          <a:p>
            <a:r>
              <a:rPr lang="en-AU" sz="1200" kern="1200" dirty="0">
                <a:solidFill>
                  <a:schemeClr val="tx1"/>
                </a:solidFill>
                <a:effectLst/>
                <a:latin typeface="Segoe UI Light" panose="020B0502040204020203" pitchFamily="34" charset="0"/>
                <a:ea typeface="+mn-ea"/>
                <a:cs typeface="+mn-cs"/>
              </a:rPr>
              <a:t>During initial response to infection, a large pool of short-lived effector cells (KLRG1) are generated. These cytotoxic cells deal with the immediate threat and then die during the subsequent contraction phase.</a:t>
            </a:r>
          </a:p>
          <a:p>
            <a:endParaRPr lang="en-AU" sz="1200" kern="1200" dirty="0">
              <a:solidFill>
                <a:schemeClr val="tx1"/>
              </a:solidFill>
              <a:effectLst/>
              <a:latin typeface="Segoe UI Light" panose="020B0502040204020203" pitchFamily="34" charset="0"/>
              <a:ea typeface="+mn-ea"/>
              <a:cs typeface="+mn-cs"/>
            </a:endParaRPr>
          </a:p>
          <a:p>
            <a:r>
              <a:rPr lang="en-AU" sz="1200" kern="1200" dirty="0">
                <a:solidFill>
                  <a:schemeClr val="tx1"/>
                </a:solidFill>
                <a:effectLst/>
                <a:latin typeface="Segoe UI Light" panose="020B0502040204020203" pitchFamily="34" charset="0"/>
                <a:ea typeface="+mn-ea"/>
                <a:cs typeface="+mn-cs"/>
              </a:rPr>
              <a:t>Another subset of T cells are programmed for longevity and plasticity. These are the CD127+ positive memory precursor effector cells which persist following an infection and confer immunological memory. </a:t>
            </a:r>
          </a:p>
          <a:p>
            <a:endParaRPr lang="en-AU" sz="1200" kern="1200" dirty="0">
              <a:solidFill>
                <a:schemeClr val="tx1"/>
              </a:solidFill>
              <a:effectLst/>
              <a:latin typeface="Segoe UI Light" panose="020B0502040204020203" pitchFamily="34" charset="0"/>
              <a:ea typeface="+mn-ea"/>
              <a:cs typeface="+mn-cs"/>
            </a:endParaRPr>
          </a:p>
          <a:p>
            <a:endParaRPr lang="en-AU" sz="1200" kern="1200" dirty="0">
              <a:solidFill>
                <a:schemeClr val="tx1"/>
              </a:solidFill>
              <a:effectLst/>
              <a:latin typeface="Segoe UI Light" panose="020B0502040204020203" pitchFamily="34" charset="0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8CC1B0-A809-92D9-8F2F-2E170427FE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0C067AA-C6E9-418C-A333-FC9B7AAB0648}" type="slidenum">
              <a:rPr lang="en-AU" smtClean="0"/>
              <a:pPr/>
              <a:t>12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55875853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2C03C0-8EF1-79FD-98B9-E553D5BFA8F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2A46864-FD64-41EF-3D80-79BF081A9A4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C1FC85-6AF1-E4C6-CA47-76D9444019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64E89A-AB25-BB49-ACF5-DB57CC9089B0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986ACA-4D85-DDD6-92BB-15579DE3E4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5C410E-1A1B-04BE-0BD1-7474A586BB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283AB2-FEBE-5E42-8240-F8ED07DB29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75312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9BCB0F-4DAB-6E5E-D11E-E3AF54A1AD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DB9923-5663-2938-4E80-A540E158F7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9DA279-ADAA-5918-E20B-9BA7B4E8DC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64E89A-AB25-BB49-ACF5-DB57CC9089B0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8C1F9E-C6EA-36F0-A080-4E0D476020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D947CD-E57B-7FAE-A0C9-005A603EEF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283AB2-FEBE-5E42-8240-F8ED07DB29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27904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F9F535-226E-25EE-973E-1DCD254E5D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946E5CB-49CB-13FF-CF0C-6E2B0A63CB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8266F6-ACDE-269C-15F8-24DE117D9B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64E89A-AB25-BB49-ACF5-DB57CC9089B0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5AB65B-DF01-975E-3895-B89499C2E3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C270A65-A33E-8B3D-E32C-16CAEFFBCB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283AB2-FEBE-5E42-8240-F8ED07DB29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81288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89B9FD-9834-9240-D068-AC49126955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15E7EA-56E9-0F20-ACE0-0A3F980C9A7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55087CD-4C2E-5613-A847-F8C77FF7E43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64E7BC5-4005-E91D-3378-760F9C2F87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64E89A-AB25-BB49-ACF5-DB57CC9089B0}" type="datetimeFigureOut">
              <a:rPr lang="en-US" smtClean="0"/>
              <a:t>7/6/26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1FE862F-DCD1-5D6A-7BD9-2ABCD62DF9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748E37F-8094-FB05-2613-5407F3863B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283AB2-FEBE-5E42-8240-F8ED07DB29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86273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28C920-376E-3C2B-764E-8E2D1E832E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B7DDE8E-13F3-5E31-539B-DECA30E8FF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31D6AF9-6F9F-6053-3972-38BAF40C43B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A5BA11B-EC5C-6253-CED4-7E6430F1215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F553F1C-4587-1A88-96A7-94DA0432AB9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35500B5-37C4-7D19-B9DA-E904EA6BAA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64E89A-AB25-BB49-ACF5-DB57CC9089B0}" type="datetimeFigureOut">
              <a:rPr lang="en-US" smtClean="0"/>
              <a:t>7/6/26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3E2DEA5-34E1-76D2-90DA-618E311C82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BDE63AB-AF03-BB57-AD0D-FF95541374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283AB2-FEBE-5E42-8240-F8ED07DB29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72814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F32412-AC6C-B9A1-5A97-AC22053421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DDFC26F-B1DE-7345-D56E-99512B7554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64E89A-AB25-BB49-ACF5-DB57CC9089B0}" type="datetimeFigureOut">
              <a:rPr lang="en-US" smtClean="0"/>
              <a:t>7/6/26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888E787-D214-4520-663F-1EC217CC02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76020F7-F4E2-3C19-867F-E7FF2487A7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283AB2-FEBE-5E42-8240-F8ED07DB29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08979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644976A-6D57-805D-A158-E71ED7E3BA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64E89A-AB25-BB49-ACF5-DB57CC9089B0}" type="datetimeFigureOut">
              <a:rPr lang="en-US" smtClean="0"/>
              <a:t>7/6/26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8102B30-26AD-47DA-DDC8-E5627603AB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D557FF-4BF2-C43F-2A65-EF2EAF4B02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283AB2-FEBE-5E42-8240-F8ED07DB29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29938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B594AC-DBBF-802A-B096-2785AD988E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EFD7B5-FB53-1F8B-FC91-AFE6462CD7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BB09F9C-8982-A320-902F-7752FBF0835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6958E32-291E-0154-CAB9-84C7B0A6D8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64E89A-AB25-BB49-ACF5-DB57CC9089B0}" type="datetimeFigureOut">
              <a:rPr lang="en-US" smtClean="0"/>
              <a:t>7/6/26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D5FEEE5-661D-8A43-DF7F-19800C561C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95A04F9-E65E-B7BC-C66F-FFBB2E4CC2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283AB2-FEBE-5E42-8240-F8ED07DB29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6242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BA8787-B21A-F81D-AEEC-E6467A050A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EFCE0E6-43FE-3A49-68A6-D3846918814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F60BC36-812D-B0FD-FA9C-CA10A972860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3FAD9A5-9717-745B-A808-D707BA6BFA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64E89A-AB25-BB49-ACF5-DB57CC9089B0}" type="datetimeFigureOut">
              <a:rPr lang="en-US" smtClean="0"/>
              <a:t>7/6/26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C32DE5D-E179-D4DA-0D1A-27B21DA019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C68B43-6B6C-ACF9-DB16-8137A8BC7D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283AB2-FEBE-5E42-8240-F8ED07DB29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48933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46F617-D144-6238-E8D3-4A7BB6474E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2C59AB5-D4A6-FE98-C889-E90A3202498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5AF643-2868-BB46-A6EA-8FF02C2772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64E89A-AB25-BB49-ACF5-DB57CC9089B0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6030C3-6061-1E4A-DE7C-D087BBA63D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2A1D70-A7AF-A543-3CDC-C132A924AC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283AB2-FEBE-5E42-8240-F8ED07DB29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1093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A3957CA-5BE8-D178-4C43-E17D658E9BD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D719655-699D-F6F6-FF19-6B72084ACEB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CC15EC-E31D-D5C7-8505-9EAE86598A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64E89A-AB25-BB49-ACF5-DB57CC9089B0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E644AD4-BE79-48FB-AF6A-8D038293F7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EF73FFE-D0D2-95AD-38EB-2CBB27E546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283AB2-FEBE-5E42-8240-F8ED07DB29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313539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2 column text (w/ subtitle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1201">
            <a:extLst>
              <a:ext uri="{FF2B5EF4-FFF2-40B4-BE49-F238E27FC236}">
                <a16:creationId xmlns:a16="http://schemas.microsoft.com/office/drawing/2014/main" id="{8FB8A508-BE82-4FFA-B5B9-F08B8E76CCF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1531897"/>
            <a:ext cx="324000" cy="504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3175">
            <a:solidFill>
              <a:schemeClr val="accent1"/>
            </a:solidFill>
          </a:ln>
        </p:spPr>
        <p:txBody>
          <a:bodyPr/>
          <a:lstStyle>
            <a:lvl1pPr>
              <a:defRPr sz="400">
                <a:noFill/>
              </a:defRPr>
            </a:lvl1pPr>
          </a:lstStyle>
          <a:p>
            <a:pPr lvl="0"/>
            <a:r>
              <a:rPr lang="en-US"/>
              <a:t>f</a:t>
            </a:r>
            <a:endParaRPr lang="en-AU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C1ADB508-C0AC-4EDA-AAE6-077B9690242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71475" y="1809750"/>
            <a:ext cx="11412538" cy="4643438"/>
          </a:xfrm>
        </p:spPr>
        <p:txBody>
          <a:bodyPr numCol="2" spcCol="36000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U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228680DD-4748-4FC6-963F-FBB59961157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5" y="396875"/>
            <a:ext cx="6732637" cy="868363"/>
          </a:xfrm>
        </p:spPr>
        <p:txBody>
          <a:bodyPr/>
          <a:lstStyle>
            <a:lvl1pPr>
              <a:spcBef>
                <a:spcPts val="0"/>
              </a:spcBef>
              <a:defRPr sz="3600">
                <a:solidFill>
                  <a:schemeClr val="accent1"/>
                </a:solidFill>
              </a:defRPr>
            </a:lvl1pPr>
            <a:lvl2pPr>
              <a:defRPr sz="2800"/>
            </a:lvl2pPr>
          </a:lstStyle>
          <a:p>
            <a:pPr lvl="0"/>
            <a:r>
              <a:rPr lang="en-US"/>
              <a:t>Slide title to be on 2 lines</a:t>
            </a:r>
          </a:p>
          <a:p>
            <a:pPr lvl="1"/>
            <a:r>
              <a:rPr lang="en-US"/>
              <a:t>Second level</a:t>
            </a:r>
          </a:p>
        </p:txBody>
      </p:sp>
    </p:spTree>
    <p:extLst>
      <p:ext uri="{BB962C8B-B14F-4D97-AF65-F5344CB8AC3E}">
        <p14:creationId xmlns:p14="http://schemas.microsoft.com/office/powerpoint/2010/main" val="224779872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>
        <p:tmplLst>
          <p:tmpl>
            <p:tnLst>
              <p:par>
                <p:cTn presetID="22" presetClass="entr" presetSubtype="8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3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500"/>
                        <p:tgtEl>
                          <p:spTgt spid="3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6" grpId="0" uiExpand="1">
        <p:tmplLst>
          <p:tmpl>
            <p:tnLst>
              <p:par>
                <p:cTn presetID="10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6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500"/>
                        <p:tgtEl>
                          <p:spTgt spid="6"/>
                        </p:tgtEl>
                      </p:cBhvr>
                    </p:animEffect>
                  </p:childTnLst>
                </p:cTn>
              </p:par>
            </p:tnLst>
          </p:tmpl>
        </p:tmplLst>
      </p:bldP>
    </p:bldLst>
  </p:timing>
  <p:extLst>
    <p:ext uri="{DCECCB84-F9BA-43D5-87BE-67443E8EF086}">
      <p15:sldGuideLst xmlns:p15="http://schemas.microsoft.com/office/powerpoint/2012/main">
        <p15:guide id="1" pos="3727">
          <p15:clr>
            <a:srgbClr val="FBAE40"/>
          </p15:clr>
        </p15:guide>
        <p15:guide id="2" pos="3953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A624C84-FE74-908E-44B6-2A8B0EC733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C2AF8B1-65AC-E68B-FE8C-6D9BF137C8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51B961-164F-AD83-45C2-A134F73321F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264E89A-AB25-BB49-ACF5-DB57CC9089B0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D397EB-6E4A-6333-0DFA-666AEBAC334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A4946E-A109-6467-0E37-56A67907823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B283AB2-FEBE-5E42-8240-F8ED07DB29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2199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547A1F8-8111-4D01-8BBC-CE9C22885A2A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10088" b="14912"/>
          <a:stretch/>
        </p:blipFill>
        <p:spPr>
          <a:xfrm>
            <a:off x="0" y="2"/>
            <a:ext cx="12192000" cy="6857998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5AA3BE82-9652-4496-BA50-315242768896}"/>
              </a:ext>
            </a:extLst>
          </p:cNvPr>
          <p:cNvSpPr/>
          <p:nvPr/>
        </p:nvSpPr>
        <p:spPr>
          <a:xfrm>
            <a:off x="0" y="1"/>
            <a:ext cx="12191999" cy="2283935"/>
          </a:xfrm>
          <a:custGeom>
            <a:avLst/>
            <a:gdLst>
              <a:gd name="connsiteX0" fmla="*/ 0 w 9144000"/>
              <a:gd name="connsiteY0" fmla="*/ 0 h 2283935"/>
              <a:gd name="connsiteX1" fmla="*/ 9144000 w 9144000"/>
              <a:gd name="connsiteY1" fmla="*/ 0 h 2283935"/>
              <a:gd name="connsiteX2" fmla="*/ 9144000 w 9144000"/>
              <a:gd name="connsiteY2" fmla="*/ 2283935 h 2283935"/>
              <a:gd name="connsiteX3" fmla="*/ 0 w 9144000"/>
              <a:gd name="connsiteY3" fmla="*/ 2283935 h 2283935"/>
              <a:gd name="connsiteX4" fmla="*/ 0 w 9144000"/>
              <a:gd name="connsiteY4" fmla="*/ 0 h 2283935"/>
              <a:gd name="connsiteX0" fmla="*/ 0 w 9144000"/>
              <a:gd name="connsiteY0" fmla="*/ 0 h 2283935"/>
              <a:gd name="connsiteX1" fmla="*/ 9144000 w 9144000"/>
              <a:gd name="connsiteY1" fmla="*/ 0 h 2283935"/>
              <a:gd name="connsiteX2" fmla="*/ 9144000 w 9144000"/>
              <a:gd name="connsiteY2" fmla="*/ 2283935 h 2283935"/>
              <a:gd name="connsiteX3" fmla="*/ 0 w 9144000"/>
              <a:gd name="connsiteY3" fmla="*/ 0 h 22839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144000" h="2283935">
                <a:moveTo>
                  <a:pt x="0" y="0"/>
                </a:moveTo>
                <a:lnTo>
                  <a:pt x="9144000" y="0"/>
                </a:lnTo>
                <a:lnTo>
                  <a:pt x="9144000" y="2283935"/>
                </a:lnTo>
                <a:lnTo>
                  <a:pt x="0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lang="en-US" sz="100">
              <a:noFill/>
            </a:endParaRPr>
          </a:p>
        </p:txBody>
      </p:sp>
      <p:sp>
        <p:nvSpPr>
          <p:cNvPr id="11" name="Rectangle 2">
            <a:extLst>
              <a:ext uri="{FF2B5EF4-FFF2-40B4-BE49-F238E27FC236}">
                <a16:creationId xmlns:a16="http://schemas.microsoft.com/office/drawing/2014/main" id="{2FFAF2D0-02DC-40C7-8621-BCB460DD361F}"/>
              </a:ext>
            </a:extLst>
          </p:cNvPr>
          <p:cNvSpPr/>
          <p:nvPr/>
        </p:nvSpPr>
        <p:spPr>
          <a:xfrm flipV="1">
            <a:off x="0" y="4574065"/>
            <a:ext cx="12191999" cy="2283935"/>
          </a:xfrm>
          <a:custGeom>
            <a:avLst/>
            <a:gdLst>
              <a:gd name="connsiteX0" fmla="*/ 0 w 9144000"/>
              <a:gd name="connsiteY0" fmla="*/ 0 h 2283935"/>
              <a:gd name="connsiteX1" fmla="*/ 9144000 w 9144000"/>
              <a:gd name="connsiteY1" fmla="*/ 0 h 2283935"/>
              <a:gd name="connsiteX2" fmla="*/ 9144000 w 9144000"/>
              <a:gd name="connsiteY2" fmla="*/ 2283935 h 2283935"/>
              <a:gd name="connsiteX3" fmla="*/ 0 w 9144000"/>
              <a:gd name="connsiteY3" fmla="*/ 2283935 h 2283935"/>
              <a:gd name="connsiteX4" fmla="*/ 0 w 9144000"/>
              <a:gd name="connsiteY4" fmla="*/ 0 h 2283935"/>
              <a:gd name="connsiteX0" fmla="*/ 0 w 9144000"/>
              <a:gd name="connsiteY0" fmla="*/ 0 h 2283935"/>
              <a:gd name="connsiteX1" fmla="*/ 9144000 w 9144000"/>
              <a:gd name="connsiteY1" fmla="*/ 0 h 2283935"/>
              <a:gd name="connsiteX2" fmla="*/ 9144000 w 9144000"/>
              <a:gd name="connsiteY2" fmla="*/ 2283935 h 2283935"/>
              <a:gd name="connsiteX3" fmla="*/ 0 w 9144000"/>
              <a:gd name="connsiteY3" fmla="*/ 0 h 22839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144000" h="2283935">
                <a:moveTo>
                  <a:pt x="0" y="0"/>
                </a:moveTo>
                <a:lnTo>
                  <a:pt x="9144000" y="0"/>
                </a:lnTo>
                <a:lnTo>
                  <a:pt x="9144000" y="2283935"/>
                </a:lnTo>
                <a:lnTo>
                  <a:pt x="0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lang="en-US" sz="100">
              <a:noFill/>
            </a:endParaRPr>
          </a:p>
        </p:txBody>
      </p:sp>
      <p:sp>
        <p:nvSpPr>
          <p:cNvPr id="12" name="Freeform 11">
            <a:extLst>
              <a:ext uri="{FF2B5EF4-FFF2-40B4-BE49-F238E27FC236}">
                <a16:creationId xmlns:a16="http://schemas.microsoft.com/office/drawing/2014/main" id="{21DF5264-F8E3-AB47-87D0-078BBAA73E6D}"/>
              </a:ext>
            </a:extLst>
          </p:cNvPr>
          <p:cNvSpPr/>
          <p:nvPr/>
        </p:nvSpPr>
        <p:spPr>
          <a:xfrm>
            <a:off x="0" y="-9528"/>
            <a:ext cx="9170667" cy="6867526"/>
          </a:xfrm>
          <a:custGeom>
            <a:avLst/>
            <a:gdLst>
              <a:gd name="connsiteX0" fmla="*/ 4102003 w 9170667"/>
              <a:gd name="connsiteY0" fmla="*/ 0 h 6867526"/>
              <a:gd name="connsiteX1" fmla="*/ 9170667 w 9170667"/>
              <a:gd name="connsiteY1" fmla="*/ 3362325 h 6867526"/>
              <a:gd name="connsiteX2" fmla="*/ 3984528 w 9170667"/>
              <a:gd name="connsiteY2" fmla="*/ 6867525 h 6867526"/>
              <a:gd name="connsiteX3" fmla="*/ 2176293 w 9170667"/>
              <a:gd name="connsiteY3" fmla="*/ 6867525 h 6867526"/>
              <a:gd name="connsiteX4" fmla="*/ 2176293 w 9170667"/>
              <a:gd name="connsiteY4" fmla="*/ 6867526 h 6867526"/>
              <a:gd name="connsiteX5" fmla="*/ 1271464 w 9170667"/>
              <a:gd name="connsiteY5" fmla="*/ 6867526 h 6867526"/>
              <a:gd name="connsiteX6" fmla="*/ 1084849 w 9170667"/>
              <a:gd name="connsiteY6" fmla="*/ 6867526 h 6867526"/>
              <a:gd name="connsiteX7" fmla="*/ 0 w 9170667"/>
              <a:gd name="connsiteY7" fmla="*/ 6867526 h 6867526"/>
              <a:gd name="connsiteX8" fmla="*/ 0 w 9170667"/>
              <a:gd name="connsiteY8" fmla="*/ 9526 h 6867526"/>
              <a:gd name="connsiteX9" fmla="*/ 1084849 w 9170667"/>
              <a:gd name="connsiteY9" fmla="*/ 9526 h 6867526"/>
              <a:gd name="connsiteX10" fmla="*/ 1271464 w 9170667"/>
              <a:gd name="connsiteY10" fmla="*/ 9526 h 6867526"/>
              <a:gd name="connsiteX11" fmla="*/ 1788792 w 9170667"/>
              <a:gd name="connsiteY11" fmla="*/ 9526 h 6867526"/>
              <a:gd name="connsiteX12" fmla="*/ 1788792 w 9170667"/>
              <a:gd name="connsiteY12" fmla="*/ 9525 h 68675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9170667" h="6867526">
                <a:moveTo>
                  <a:pt x="4102003" y="0"/>
                </a:moveTo>
                <a:lnTo>
                  <a:pt x="9170667" y="3362325"/>
                </a:lnTo>
                <a:lnTo>
                  <a:pt x="3984528" y="6867525"/>
                </a:lnTo>
                <a:lnTo>
                  <a:pt x="2176293" y="6867525"/>
                </a:lnTo>
                <a:lnTo>
                  <a:pt x="2176293" y="6867526"/>
                </a:lnTo>
                <a:lnTo>
                  <a:pt x="1271464" y="6867526"/>
                </a:lnTo>
                <a:lnTo>
                  <a:pt x="1084849" y="6867526"/>
                </a:lnTo>
                <a:lnTo>
                  <a:pt x="0" y="6867526"/>
                </a:lnTo>
                <a:lnTo>
                  <a:pt x="0" y="9526"/>
                </a:lnTo>
                <a:lnTo>
                  <a:pt x="1084849" y="9526"/>
                </a:lnTo>
                <a:lnTo>
                  <a:pt x="1271464" y="9526"/>
                </a:lnTo>
                <a:lnTo>
                  <a:pt x="1788792" y="9526"/>
                </a:lnTo>
                <a:lnTo>
                  <a:pt x="1788792" y="9525"/>
                </a:lnTo>
                <a:close/>
              </a:path>
            </a:pathLst>
          </a:cu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t">
            <a:noAutofit/>
          </a:bodyPr>
          <a:lstStyle/>
          <a:p>
            <a:endParaRPr lang="en-AU" sz="100" dirty="0">
              <a:noFill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B8EBD20-6FF2-4839-B046-45E7FD3C6494}"/>
              </a:ext>
            </a:extLst>
          </p:cNvPr>
          <p:cNvSpPr txBox="1"/>
          <p:nvPr/>
        </p:nvSpPr>
        <p:spPr>
          <a:xfrm>
            <a:off x="380862" y="2072439"/>
            <a:ext cx="7631024" cy="147732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r>
              <a:rPr lang="en-AU" sz="3200" b="1" dirty="0">
                <a:solidFill>
                  <a:prstClr val="white"/>
                </a:solidFill>
              </a:rPr>
              <a:t>FISABIO SUMMER SCHOOL 2026</a:t>
            </a:r>
          </a:p>
          <a:p>
            <a:pPr>
              <a:defRPr/>
            </a:pPr>
            <a:r>
              <a:rPr lang="en-AU" sz="3200" b="1" dirty="0">
                <a:solidFill>
                  <a:srgbClr val="FFC000"/>
                </a:solidFill>
                <a:latin typeface="+mj-lt"/>
              </a:rPr>
              <a:t>Module 4 : Introduction to metabolic models of microbial communities</a:t>
            </a:r>
            <a:endParaRPr lang="en-AU" sz="2800" dirty="0">
              <a:solidFill>
                <a:srgbClr val="FFC000"/>
              </a:solidFill>
              <a:latin typeface="+mj-lt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352A024-D2CB-495B-936F-7E21CA769ACC}"/>
              </a:ext>
            </a:extLst>
          </p:cNvPr>
          <p:cNvSpPr txBox="1"/>
          <p:nvPr/>
        </p:nvSpPr>
        <p:spPr>
          <a:xfrm>
            <a:off x="380862" y="4262635"/>
            <a:ext cx="4244495" cy="86177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defTabSz="457200">
              <a:defRPr/>
            </a:pPr>
            <a:r>
              <a:rPr lang="en-AU" sz="2800" b="1" dirty="0">
                <a:solidFill>
                  <a:prstClr val="white"/>
                </a:solidFill>
              </a:rPr>
              <a:t>Kshitij Tandon, PhD</a:t>
            </a:r>
          </a:p>
          <a:p>
            <a:pPr defTabSz="457200">
              <a:defRPr/>
            </a:pPr>
            <a:r>
              <a:rPr lang="en-AU" sz="2800" b="1" dirty="0">
                <a:solidFill>
                  <a:prstClr val="white"/>
                </a:solidFill>
              </a:rPr>
              <a:t>Vanessa R Marcelino, PhD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4DCC9586-7920-43F6-B546-92665C75D1E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544272" y="366981"/>
            <a:ext cx="3187817" cy="7735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07621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100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500"/>
                            </p:stCondLst>
                            <p:childTnLst>
                              <p:par>
                                <p:cTn id="1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/>
      <p:bldP spid="2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0C7CDB-BB21-5551-AD41-068B73F8EE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5208298-E042-9809-0C3B-26B64D9E31E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71475" y="396875"/>
            <a:ext cx="11532658" cy="868363"/>
          </a:xfrm>
        </p:spPr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en-US" b="1" dirty="0"/>
              <a:t>Bacteria are second largest contributors to Earth’s Biomass </a:t>
            </a:r>
          </a:p>
        </p:txBody>
      </p:sp>
      <p:pic>
        <p:nvPicPr>
          <p:cNvPr id="6" name="Picture 5" descr="r/dataisbeautiful - a diagram of different colored squares">
            <a:extLst>
              <a:ext uri="{FF2B5EF4-FFF2-40B4-BE49-F238E27FC236}">
                <a16:creationId xmlns:a16="http://schemas.microsoft.com/office/drawing/2014/main" id="{893D3BDD-1CC5-F816-82C8-298699836BD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8898"/>
          <a:stretch>
            <a:fillRect/>
          </a:stretch>
        </p:blipFill>
        <p:spPr>
          <a:xfrm>
            <a:off x="371475" y="1182952"/>
            <a:ext cx="11676180" cy="449209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5C32D3B-EC06-C334-1BDA-091C2200EE95}"/>
              </a:ext>
            </a:extLst>
          </p:cNvPr>
          <p:cNvSpPr txBox="1"/>
          <p:nvPr/>
        </p:nvSpPr>
        <p:spPr>
          <a:xfrm>
            <a:off x="0" y="6581001"/>
            <a:ext cx="407391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Adapted from Bar-On et al. 2018 </a:t>
            </a:r>
            <a:r>
              <a:rPr lang="en-US" sz="1200" i="1" dirty="0"/>
              <a:t>PNAS</a:t>
            </a:r>
            <a:endParaRPr lang="en-US" sz="12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673D51D-8D46-331E-D628-5D71A1D15C64}"/>
              </a:ext>
            </a:extLst>
          </p:cNvPr>
          <p:cNvSpPr txBox="1"/>
          <p:nvPr/>
        </p:nvSpPr>
        <p:spPr>
          <a:xfrm>
            <a:off x="9965267" y="6581001"/>
            <a:ext cx="222673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Units: Gt C Gigatons of Carbon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3C70762A-4E96-7F68-4A5C-A3470F0CBFE7}"/>
              </a:ext>
            </a:extLst>
          </p:cNvPr>
          <p:cNvSpPr/>
          <p:nvPr/>
        </p:nvSpPr>
        <p:spPr>
          <a:xfrm>
            <a:off x="6499032" y="1265238"/>
            <a:ext cx="5584862" cy="4409809"/>
          </a:xfrm>
          <a:prstGeom prst="round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62E9A6E-D083-D86D-EB6C-DC205138E493}"/>
              </a:ext>
            </a:extLst>
          </p:cNvPr>
          <p:cNvCxnSpPr>
            <a:cxnSpLocks/>
          </p:cNvCxnSpPr>
          <p:nvPr/>
        </p:nvCxnSpPr>
        <p:spPr>
          <a:xfrm flipV="1">
            <a:off x="5688106" y="4585447"/>
            <a:ext cx="847165" cy="349624"/>
          </a:xfrm>
          <a:prstGeom prst="straightConnector1">
            <a:avLst/>
          </a:prstGeom>
          <a:ln w="57150"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05DFEFCA-DE30-F2D1-0EFB-F31F15C8B2F8}"/>
              </a:ext>
            </a:extLst>
          </p:cNvPr>
          <p:cNvSpPr txBox="1"/>
          <p:nvPr/>
        </p:nvSpPr>
        <p:spPr>
          <a:xfrm>
            <a:off x="11022448" y="91883"/>
            <a:ext cx="1169552" cy="198516"/>
          </a:xfrm>
          <a:prstGeom prst="rect">
            <a:avLst/>
          </a:prstGeom>
          <a:noFill/>
        </p:spPr>
        <p:txBody>
          <a:bodyPr wrap="none" lIns="45720" tIns="18288" rIns="45720" bIns="18288" anchor="ctr">
            <a:spAutoFit/>
          </a:bodyPr>
          <a:lstStyle/>
          <a:p>
            <a:pPr algn="r"/>
            <a:r>
              <a:rPr sz="1050" b="0" dirty="0">
                <a:solidFill>
                  <a:srgbClr val="969696"/>
                </a:solidFill>
                <a:latin typeface="Aptos"/>
              </a:rPr>
              <a:t>FISABIO workshop</a:t>
            </a:r>
          </a:p>
        </p:txBody>
      </p:sp>
    </p:spTree>
    <p:extLst>
      <p:ext uri="{BB962C8B-B14F-4D97-AF65-F5344CB8AC3E}">
        <p14:creationId xmlns:p14="http://schemas.microsoft.com/office/powerpoint/2010/main" val="2962316723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A3F70E5-32DD-99A8-ABB2-49E10479256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71475" y="396875"/>
            <a:ext cx="10557782" cy="86836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In vitro culturing remains a significant </a:t>
            </a:r>
            <a:r>
              <a:rPr lang="en-US" b="1" dirty="0" err="1"/>
              <a:t>bootleneck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4176680289"/>
      </p:ext>
    </p:extLst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0C7CDB-BB21-5551-AD41-068B73F8EE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Down Arrow 7">
            <a:extLst>
              <a:ext uri="{FF2B5EF4-FFF2-40B4-BE49-F238E27FC236}">
                <a16:creationId xmlns:a16="http://schemas.microsoft.com/office/drawing/2014/main" id="{F3F424E1-25FF-8BB1-8A2A-1229FAD880FE}"/>
              </a:ext>
            </a:extLst>
          </p:cNvPr>
          <p:cNvSpPr/>
          <p:nvPr/>
        </p:nvSpPr>
        <p:spPr>
          <a:xfrm>
            <a:off x="1008125" y="1265238"/>
            <a:ext cx="960120" cy="4069080"/>
          </a:xfrm>
          <a:prstGeom prst="downArrow">
            <a:avLst/>
          </a:prstGeom>
          <a:solidFill>
            <a:srgbClr val="A0D7CD"/>
          </a:solidFill>
          <a:ln w="15240">
            <a:solidFill>
              <a:srgbClr val="5AA5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CBEF6E8-0D94-F185-7745-16AE25C009D8}"/>
              </a:ext>
            </a:extLst>
          </p:cNvPr>
          <p:cNvSpPr txBox="1"/>
          <p:nvPr/>
        </p:nvSpPr>
        <p:spPr>
          <a:xfrm>
            <a:off x="759309" y="5275365"/>
            <a:ext cx="1737360" cy="411480"/>
          </a:xfrm>
          <a:prstGeom prst="rect">
            <a:avLst/>
          </a:prstGeom>
          <a:noFill/>
        </p:spPr>
        <p:txBody>
          <a:bodyPr wrap="none" lIns="45720" tIns="18288" rIns="45720" bIns="18288" anchor="ctr">
            <a:spAutoFit/>
          </a:bodyPr>
          <a:lstStyle/>
          <a:p>
            <a:pPr algn="ctr"/>
            <a:r>
              <a:rPr sz="2300" b="1" dirty="0">
                <a:solidFill>
                  <a:srgbClr val="000000"/>
                </a:solidFill>
                <a:latin typeface="Aptos"/>
              </a:rPr>
              <a:t>PHENOTYPE</a:t>
            </a:r>
          </a:p>
        </p:txBody>
      </p:sp>
      <p:sp>
        <p:nvSpPr>
          <p:cNvPr id="11" name="Pentagon 10">
            <a:extLst>
              <a:ext uri="{FF2B5EF4-FFF2-40B4-BE49-F238E27FC236}">
                <a16:creationId xmlns:a16="http://schemas.microsoft.com/office/drawing/2014/main" id="{134F83AF-E461-B150-8941-DDCE4602028F}"/>
              </a:ext>
            </a:extLst>
          </p:cNvPr>
          <p:cNvSpPr/>
          <p:nvPr/>
        </p:nvSpPr>
        <p:spPr>
          <a:xfrm rot="5400000">
            <a:off x="2359152" y="1598994"/>
            <a:ext cx="1591056" cy="960120"/>
          </a:xfrm>
          <a:prstGeom prst="homePlate">
            <a:avLst/>
          </a:prstGeom>
          <a:solidFill>
            <a:srgbClr val="B992CA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E0FBAD3-939A-79F0-A138-336F228799B5}"/>
              </a:ext>
            </a:extLst>
          </p:cNvPr>
          <p:cNvSpPr txBox="1"/>
          <p:nvPr/>
        </p:nvSpPr>
        <p:spPr>
          <a:xfrm>
            <a:off x="2231135" y="1466867"/>
            <a:ext cx="1865376" cy="256032"/>
          </a:xfrm>
          <a:prstGeom prst="rect">
            <a:avLst/>
          </a:prstGeom>
          <a:noFill/>
        </p:spPr>
        <p:txBody>
          <a:bodyPr wrap="none" lIns="45720" tIns="18288" rIns="45720" bIns="18288" anchor="ctr">
            <a:spAutoFit/>
          </a:bodyPr>
          <a:lstStyle/>
          <a:p>
            <a:pPr algn="ctr"/>
            <a:r>
              <a:rPr sz="2000" b="1" dirty="0">
                <a:solidFill>
                  <a:srgbClr val="000000"/>
                </a:solidFill>
                <a:latin typeface="Aptos"/>
              </a:rPr>
              <a:t>Genome</a:t>
            </a:r>
          </a:p>
        </p:txBody>
      </p:sp>
      <p:sp>
        <p:nvSpPr>
          <p:cNvPr id="14" name="Pentagon 13">
            <a:extLst>
              <a:ext uri="{FF2B5EF4-FFF2-40B4-BE49-F238E27FC236}">
                <a16:creationId xmlns:a16="http://schemas.microsoft.com/office/drawing/2014/main" id="{2A99E55F-F092-C104-02F7-FCEC4E87BF1D}"/>
              </a:ext>
            </a:extLst>
          </p:cNvPr>
          <p:cNvSpPr/>
          <p:nvPr/>
        </p:nvSpPr>
        <p:spPr>
          <a:xfrm rot="5400000">
            <a:off x="2240280" y="2504250"/>
            <a:ext cx="1828800" cy="960120"/>
          </a:xfrm>
          <a:prstGeom prst="homePlate">
            <a:avLst/>
          </a:prstGeom>
          <a:solidFill>
            <a:srgbClr val="9994D6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394C83E-50AD-7C80-025E-D992A931F734}"/>
              </a:ext>
            </a:extLst>
          </p:cNvPr>
          <p:cNvSpPr txBox="1"/>
          <p:nvPr/>
        </p:nvSpPr>
        <p:spPr>
          <a:xfrm>
            <a:off x="2221992" y="2347900"/>
            <a:ext cx="1865376" cy="256032"/>
          </a:xfrm>
          <a:prstGeom prst="rect">
            <a:avLst/>
          </a:prstGeom>
          <a:noFill/>
        </p:spPr>
        <p:txBody>
          <a:bodyPr wrap="none" lIns="45720" tIns="18288" rIns="45720" bIns="18288" anchor="ctr">
            <a:spAutoFit/>
          </a:bodyPr>
          <a:lstStyle/>
          <a:p>
            <a:pPr algn="ctr"/>
            <a:r>
              <a:rPr sz="2000" b="1" dirty="0">
                <a:solidFill>
                  <a:srgbClr val="000000"/>
                </a:solidFill>
                <a:latin typeface="Aptos"/>
              </a:rPr>
              <a:t>Transcriptome</a:t>
            </a:r>
          </a:p>
        </p:txBody>
      </p:sp>
      <p:sp>
        <p:nvSpPr>
          <p:cNvPr id="17" name="Pentagon 16">
            <a:extLst>
              <a:ext uri="{FF2B5EF4-FFF2-40B4-BE49-F238E27FC236}">
                <a16:creationId xmlns:a16="http://schemas.microsoft.com/office/drawing/2014/main" id="{D862CFC4-EDF3-4BE1-747E-5284E394B2BA}"/>
              </a:ext>
            </a:extLst>
          </p:cNvPr>
          <p:cNvSpPr/>
          <p:nvPr/>
        </p:nvSpPr>
        <p:spPr>
          <a:xfrm rot="5400000">
            <a:off x="2240280" y="3528378"/>
            <a:ext cx="1828800" cy="960120"/>
          </a:xfrm>
          <a:prstGeom prst="homePlate">
            <a:avLst/>
          </a:prstGeom>
          <a:solidFill>
            <a:srgbClr val="80BDD3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9A24D46-C2CF-CB96-9B93-1AC0CE48A941}"/>
              </a:ext>
            </a:extLst>
          </p:cNvPr>
          <p:cNvSpPr txBox="1"/>
          <p:nvPr/>
        </p:nvSpPr>
        <p:spPr>
          <a:xfrm>
            <a:off x="2221992" y="3409967"/>
            <a:ext cx="1865376" cy="256032"/>
          </a:xfrm>
          <a:prstGeom prst="rect">
            <a:avLst/>
          </a:prstGeom>
          <a:noFill/>
        </p:spPr>
        <p:txBody>
          <a:bodyPr wrap="none" lIns="45720" tIns="18288" rIns="45720" bIns="18288" anchor="ctr">
            <a:spAutoFit/>
          </a:bodyPr>
          <a:lstStyle/>
          <a:p>
            <a:pPr algn="ctr"/>
            <a:r>
              <a:rPr sz="2000" b="1" dirty="0">
                <a:solidFill>
                  <a:srgbClr val="000000"/>
                </a:solidFill>
                <a:latin typeface="Aptos"/>
              </a:rPr>
              <a:t>Proteome</a:t>
            </a:r>
          </a:p>
        </p:txBody>
      </p:sp>
      <p:sp>
        <p:nvSpPr>
          <p:cNvPr id="20" name="Pentagon 19">
            <a:extLst>
              <a:ext uri="{FF2B5EF4-FFF2-40B4-BE49-F238E27FC236}">
                <a16:creationId xmlns:a16="http://schemas.microsoft.com/office/drawing/2014/main" id="{9BA15F6A-38F3-B8D7-E574-E06E23FFE845}"/>
              </a:ext>
            </a:extLst>
          </p:cNvPr>
          <p:cNvSpPr/>
          <p:nvPr/>
        </p:nvSpPr>
        <p:spPr>
          <a:xfrm rot="5400000">
            <a:off x="2576080" y="4216708"/>
            <a:ext cx="1157200" cy="960120"/>
          </a:xfrm>
          <a:prstGeom prst="homePlate">
            <a:avLst/>
          </a:prstGeom>
          <a:solidFill>
            <a:srgbClr val="77D3A9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2B8CD17-DAFF-FF38-A5BF-07DBEA8119FB}"/>
              </a:ext>
            </a:extLst>
          </p:cNvPr>
          <p:cNvSpPr txBox="1"/>
          <p:nvPr/>
        </p:nvSpPr>
        <p:spPr>
          <a:xfrm>
            <a:off x="2221992" y="4384662"/>
            <a:ext cx="1865376" cy="256032"/>
          </a:xfrm>
          <a:prstGeom prst="rect">
            <a:avLst/>
          </a:prstGeom>
          <a:noFill/>
        </p:spPr>
        <p:txBody>
          <a:bodyPr wrap="none" lIns="45720" tIns="18288" rIns="45720" bIns="18288" anchor="ctr">
            <a:spAutoFit/>
          </a:bodyPr>
          <a:lstStyle/>
          <a:p>
            <a:pPr algn="ctr"/>
            <a:r>
              <a:rPr sz="2000" b="1" dirty="0">
                <a:solidFill>
                  <a:srgbClr val="000000"/>
                </a:solidFill>
                <a:latin typeface="Aptos"/>
              </a:rPr>
              <a:t>Metabolome</a:t>
            </a: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75E3D1E7-8DE7-2445-6958-CB8D78BF19C2}"/>
              </a:ext>
            </a:extLst>
          </p:cNvPr>
          <p:cNvSpPr/>
          <p:nvPr/>
        </p:nvSpPr>
        <p:spPr>
          <a:xfrm>
            <a:off x="5088635" y="1283526"/>
            <a:ext cx="2834640" cy="758952"/>
          </a:xfrm>
          <a:prstGeom prst="roundRect">
            <a:avLst/>
          </a:prstGeom>
          <a:solidFill>
            <a:srgbClr val="B992CA"/>
          </a:solidFill>
          <a:ln w="15240">
            <a:solidFill>
              <a:srgbClr val="4B67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rIns="109728" rtlCol="0" anchor="ctr"/>
          <a:lstStyle/>
          <a:p>
            <a:pPr algn="l"/>
            <a:r>
              <a:rPr sz="2400" b="1">
                <a:solidFill>
                  <a:srgbClr val="000000"/>
                </a:solidFill>
                <a:latin typeface="Aptos"/>
              </a:rPr>
              <a:t>DNA</a:t>
            </a:r>
          </a:p>
          <a:p>
            <a:pPr algn="l">
              <a:spcBef>
                <a:spcPts val="300"/>
              </a:spcBef>
            </a:pPr>
            <a:r>
              <a:rPr sz="1250">
                <a:solidFill>
                  <a:srgbClr val="323232"/>
                </a:solidFill>
                <a:latin typeface="Aptos"/>
              </a:rPr>
              <a:t>Genome sequence / gene catalogue</a:t>
            </a:r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3777DA57-238D-3909-C0FC-97CFAC0523A8}"/>
              </a:ext>
            </a:extLst>
          </p:cNvPr>
          <p:cNvSpPr/>
          <p:nvPr/>
        </p:nvSpPr>
        <p:spPr>
          <a:xfrm>
            <a:off x="5088635" y="2250285"/>
            <a:ext cx="2834640" cy="758952"/>
          </a:xfrm>
          <a:prstGeom prst="roundRect">
            <a:avLst/>
          </a:prstGeom>
          <a:solidFill>
            <a:srgbClr val="9994D6"/>
          </a:solidFill>
          <a:ln w="15240">
            <a:solidFill>
              <a:srgbClr val="4B67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rIns="109728" rtlCol="0" anchor="ctr"/>
          <a:lstStyle/>
          <a:p>
            <a:pPr algn="l"/>
            <a:r>
              <a:rPr sz="2400" b="1">
                <a:solidFill>
                  <a:srgbClr val="000000"/>
                </a:solidFill>
                <a:latin typeface="Aptos"/>
              </a:rPr>
              <a:t>RNA</a:t>
            </a:r>
          </a:p>
          <a:p>
            <a:pPr algn="l">
              <a:spcBef>
                <a:spcPts val="300"/>
              </a:spcBef>
            </a:pPr>
            <a:r>
              <a:rPr sz="1250">
                <a:solidFill>
                  <a:srgbClr val="323232"/>
                </a:solidFill>
                <a:latin typeface="Aptos"/>
              </a:rPr>
              <a:t>Condition-specific expression</a:t>
            </a:r>
          </a:p>
        </p:txBody>
      </p:sp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E2FEF660-5081-BA71-74D1-A8AFF9103972}"/>
              </a:ext>
            </a:extLst>
          </p:cNvPr>
          <p:cNvSpPr/>
          <p:nvPr/>
        </p:nvSpPr>
        <p:spPr>
          <a:xfrm>
            <a:off x="5088635" y="3206271"/>
            <a:ext cx="2834640" cy="758952"/>
          </a:xfrm>
          <a:prstGeom prst="roundRect">
            <a:avLst/>
          </a:prstGeom>
          <a:solidFill>
            <a:srgbClr val="80BDD3"/>
          </a:solidFill>
          <a:ln w="15240">
            <a:solidFill>
              <a:srgbClr val="4B67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rIns="109728" rtlCol="0" anchor="ctr"/>
          <a:lstStyle/>
          <a:p>
            <a:pPr algn="l"/>
            <a:r>
              <a:rPr sz="2400" b="1">
                <a:solidFill>
                  <a:srgbClr val="000000"/>
                </a:solidFill>
                <a:latin typeface="Aptos"/>
              </a:rPr>
              <a:t>Proteins</a:t>
            </a:r>
          </a:p>
          <a:p>
            <a:pPr algn="l">
              <a:spcBef>
                <a:spcPts val="300"/>
              </a:spcBef>
            </a:pPr>
            <a:r>
              <a:rPr sz="1250">
                <a:solidFill>
                  <a:srgbClr val="323232"/>
                </a:solidFill>
                <a:latin typeface="Aptos"/>
              </a:rPr>
              <a:t>Enzymes and complexes</a:t>
            </a:r>
          </a:p>
        </p:txBody>
      </p:sp>
      <p:sp>
        <p:nvSpPr>
          <p:cNvPr id="30" name="Rounded Rectangle 29">
            <a:extLst>
              <a:ext uri="{FF2B5EF4-FFF2-40B4-BE49-F238E27FC236}">
                <a16:creationId xmlns:a16="http://schemas.microsoft.com/office/drawing/2014/main" id="{6CA2F2A9-D64E-01F1-AE38-BA83190B4386}"/>
              </a:ext>
            </a:extLst>
          </p:cNvPr>
          <p:cNvSpPr/>
          <p:nvPr/>
        </p:nvSpPr>
        <p:spPr>
          <a:xfrm>
            <a:off x="5088635" y="4199515"/>
            <a:ext cx="2834640" cy="758952"/>
          </a:xfrm>
          <a:prstGeom prst="roundRect">
            <a:avLst/>
          </a:prstGeom>
          <a:solidFill>
            <a:srgbClr val="77D3A9"/>
          </a:solidFill>
          <a:ln w="15240">
            <a:solidFill>
              <a:srgbClr val="4B67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rIns="109728" rtlCol="0" anchor="ctr"/>
          <a:lstStyle/>
          <a:p>
            <a:pPr algn="l"/>
            <a:r>
              <a:rPr sz="2100" b="1">
                <a:solidFill>
                  <a:srgbClr val="000000"/>
                </a:solidFill>
                <a:latin typeface="Aptos"/>
              </a:rPr>
              <a:t>Metabolites</a:t>
            </a:r>
          </a:p>
          <a:p>
            <a:pPr algn="l">
              <a:spcBef>
                <a:spcPts val="300"/>
              </a:spcBef>
            </a:pPr>
            <a:r>
              <a:rPr sz="1250">
                <a:solidFill>
                  <a:srgbClr val="323232"/>
                </a:solidFill>
                <a:latin typeface="Aptos"/>
              </a:rPr>
              <a:t>Nutrients, intermediates, products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18049FAD-D75D-F552-C88F-E0BFA872B6FC}"/>
              </a:ext>
            </a:extLst>
          </p:cNvPr>
          <p:cNvSpPr txBox="1"/>
          <p:nvPr/>
        </p:nvSpPr>
        <p:spPr>
          <a:xfrm>
            <a:off x="11022448" y="91883"/>
            <a:ext cx="1169552" cy="198516"/>
          </a:xfrm>
          <a:prstGeom prst="rect">
            <a:avLst/>
          </a:prstGeom>
          <a:noFill/>
        </p:spPr>
        <p:txBody>
          <a:bodyPr wrap="none" lIns="45720" tIns="18288" rIns="45720" bIns="18288" anchor="ctr">
            <a:spAutoFit/>
          </a:bodyPr>
          <a:lstStyle/>
          <a:p>
            <a:pPr algn="r"/>
            <a:r>
              <a:rPr sz="1050" b="0" dirty="0">
                <a:solidFill>
                  <a:srgbClr val="969696"/>
                </a:solidFill>
                <a:latin typeface="Aptos"/>
              </a:rPr>
              <a:t>FISABIO workshop</a:t>
            </a:r>
          </a:p>
        </p:txBody>
      </p:sp>
      <p:cxnSp>
        <p:nvCxnSpPr>
          <p:cNvPr id="105" name="Straight Arrow Connector 104">
            <a:extLst>
              <a:ext uri="{FF2B5EF4-FFF2-40B4-BE49-F238E27FC236}">
                <a16:creationId xmlns:a16="http://schemas.microsoft.com/office/drawing/2014/main" id="{BFD0AE4D-944D-42D3-7EAC-ADAF27AD4547}"/>
              </a:ext>
            </a:extLst>
          </p:cNvPr>
          <p:cNvCxnSpPr/>
          <p:nvPr/>
        </p:nvCxnSpPr>
        <p:spPr>
          <a:xfrm>
            <a:off x="4058807" y="2603932"/>
            <a:ext cx="973776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4DE90FE2-131A-6AD7-EEE2-13A3B38BA5CD}"/>
              </a:ext>
            </a:extLst>
          </p:cNvPr>
          <p:cNvCxnSpPr/>
          <p:nvPr/>
        </p:nvCxnSpPr>
        <p:spPr>
          <a:xfrm>
            <a:off x="4058807" y="3528378"/>
            <a:ext cx="973776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7" name="Straight Arrow Connector 106">
            <a:extLst>
              <a:ext uri="{FF2B5EF4-FFF2-40B4-BE49-F238E27FC236}">
                <a16:creationId xmlns:a16="http://schemas.microsoft.com/office/drawing/2014/main" id="{B0A652B5-2954-DB43-36EA-DA0D7CBD3FF7}"/>
              </a:ext>
            </a:extLst>
          </p:cNvPr>
          <p:cNvCxnSpPr/>
          <p:nvPr/>
        </p:nvCxnSpPr>
        <p:spPr>
          <a:xfrm>
            <a:off x="4058807" y="4654555"/>
            <a:ext cx="973776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8" name="Text Placeholder 4">
            <a:extLst>
              <a:ext uri="{FF2B5EF4-FFF2-40B4-BE49-F238E27FC236}">
                <a16:creationId xmlns:a16="http://schemas.microsoft.com/office/drawing/2014/main" id="{E404B06B-A324-5042-DE3B-57A7D230DC69}"/>
              </a:ext>
            </a:extLst>
          </p:cNvPr>
          <p:cNvSpPr txBox="1">
            <a:spLocks/>
          </p:cNvSpPr>
          <p:nvPr/>
        </p:nvSpPr>
        <p:spPr>
          <a:xfrm>
            <a:off x="371475" y="396875"/>
            <a:ext cx="11074291" cy="8683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36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b="1"/>
              <a:t>From genotype to metabolic phenotype 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415451059"/>
      </p:ext>
    </p:extLst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EC80F1-CAE0-B68B-82A9-7F207569E9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Down Arrow 7">
            <a:extLst>
              <a:ext uri="{FF2B5EF4-FFF2-40B4-BE49-F238E27FC236}">
                <a16:creationId xmlns:a16="http://schemas.microsoft.com/office/drawing/2014/main" id="{B5CA0553-9091-16D5-A35D-F6AC9E1BA78E}"/>
              </a:ext>
            </a:extLst>
          </p:cNvPr>
          <p:cNvSpPr/>
          <p:nvPr/>
        </p:nvSpPr>
        <p:spPr>
          <a:xfrm>
            <a:off x="1008125" y="1265238"/>
            <a:ext cx="960120" cy="4069080"/>
          </a:xfrm>
          <a:prstGeom prst="downArrow">
            <a:avLst/>
          </a:prstGeom>
          <a:solidFill>
            <a:srgbClr val="A0D7CD"/>
          </a:solidFill>
          <a:ln w="15240">
            <a:solidFill>
              <a:srgbClr val="5AA5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A363BA6-DE1A-A499-EBB9-A80240B7E77B}"/>
              </a:ext>
            </a:extLst>
          </p:cNvPr>
          <p:cNvSpPr txBox="1"/>
          <p:nvPr/>
        </p:nvSpPr>
        <p:spPr>
          <a:xfrm>
            <a:off x="759309" y="5275365"/>
            <a:ext cx="1737360" cy="411480"/>
          </a:xfrm>
          <a:prstGeom prst="rect">
            <a:avLst/>
          </a:prstGeom>
          <a:noFill/>
        </p:spPr>
        <p:txBody>
          <a:bodyPr wrap="none" lIns="45720" tIns="18288" rIns="45720" bIns="18288" anchor="ctr">
            <a:spAutoFit/>
          </a:bodyPr>
          <a:lstStyle/>
          <a:p>
            <a:pPr algn="ctr"/>
            <a:r>
              <a:rPr sz="2300" b="1" dirty="0">
                <a:solidFill>
                  <a:srgbClr val="000000"/>
                </a:solidFill>
                <a:latin typeface="Aptos"/>
              </a:rPr>
              <a:t>PHENOTYPE</a:t>
            </a:r>
          </a:p>
        </p:txBody>
      </p:sp>
      <p:sp>
        <p:nvSpPr>
          <p:cNvPr id="11" name="Pentagon 10">
            <a:extLst>
              <a:ext uri="{FF2B5EF4-FFF2-40B4-BE49-F238E27FC236}">
                <a16:creationId xmlns:a16="http://schemas.microsoft.com/office/drawing/2014/main" id="{B58E5768-0742-45B9-3E9C-4931FE91DB6A}"/>
              </a:ext>
            </a:extLst>
          </p:cNvPr>
          <p:cNvSpPr/>
          <p:nvPr/>
        </p:nvSpPr>
        <p:spPr>
          <a:xfrm rot="5400000">
            <a:off x="2359152" y="1598994"/>
            <a:ext cx="1591056" cy="960120"/>
          </a:xfrm>
          <a:prstGeom prst="homePlate">
            <a:avLst/>
          </a:prstGeom>
          <a:solidFill>
            <a:srgbClr val="B992CA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93FA3B1-9A60-A885-C412-305B10961324}"/>
              </a:ext>
            </a:extLst>
          </p:cNvPr>
          <p:cNvSpPr txBox="1"/>
          <p:nvPr/>
        </p:nvSpPr>
        <p:spPr>
          <a:xfrm>
            <a:off x="2231135" y="1466867"/>
            <a:ext cx="1865376" cy="256032"/>
          </a:xfrm>
          <a:prstGeom prst="rect">
            <a:avLst/>
          </a:prstGeom>
          <a:noFill/>
        </p:spPr>
        <p:txBody>
          <a:bodyPr wrap="none" lIns="45720" tIns="18288" rIns="45720" bIns="18288" anchor="ctr">
            <a:spAutoFit/>
          </a:bodyPr>
          <a:lstStyle/>
          <a:p>
            <a:pPr algn="ctr"/>
            <a:r>
              <a:rPr sz="2000" b="1" dirty="0">
                <a:solidFill>
                  <a:srgbClr val="000000"/>
                </a:solidFill>
                <a:latin typeface="Aptos"/>
              </a:rPr>
              <a:t>Genome</a:t>
            </a:r>
          </a:p>
        </p:txBody>
      </p:sp>
      <p:sp>
        <p:nvSpPr>
          <p:cNvPr id="14" name="Pentagon 13">
            <a:extLst>
              <a:ext uri="{FF2B5EF4-FFF2-40B4-BE49-F238E27FC236}">
                <a16:creationId xmlns:a16="http://schemas.microsoft.com/office/drawing/2014/main" id="{603D6907-34BC-CE32-2720-655D24612AC3}"/>
              </a:ext>
            </a:extLst>
          </p:cNvPr>
          <p:cNvSpPr/>
          <p:nvPr/>
        </p:nvSpPr>
        <p:spPr>
          <a:xfrm rot="5400000">
            <a:off x="2240280" y="2504250"/>
            <a:ext cx="1828800" cy="960120"/>
          </a:xfrm>
          <a:prstGeom prst="homePlate">
            <a:avLst/>
          </a:prstGeom>
          <a:solidFill>
            <a:srgbClr val="9994D6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DCE6644-FE39-9F22-40F4-EA1DBC78FCCE}"/>
              </a:ext>
            </a:extLst>
          </p:cNvPr>
          <p:cNvSpPr txBox="1"/>
          <p:nvPr/>
        </p:nvSpPr>
        <p:spPr>
          <a:xfrm>
            <a:off x="2221992" y="2347900"/>
            <a:ext cx="1865376" cy="256032"/>
          </a:xfrm>
          <a:prstGeom prst="rect">
            <a:avLst/>
          </a:prstGeom>
          <a:noFill/>
        </p:spPr>
        <p:txBody>
          <a:bodyPr wrap="none" lIns="45720" tIns="18288" rIns="45720" bIns="18288" anchor="ctr">
            <a:spAutoFit/>
          </a:bodyPr>
          <a:lstStyle/>
          <a:p>
            <a:pPr algn="ctr"/>
            <a:r>
              <a:rPr sz="2000" b="1" dirty="0">
                <a:solidFill>
                  <a:srgbClr val="000000"/>
                </a:solidFill>
                <a:latin typeface="Aptos"/>
              </a:rPr>
              <a:t>Transcriptome</a:t>
            </a:r>
          </a:p>
        </p:txBody>
      </p:sp>
      <p:sp>
        <p:nvSpPr>
          <p:cNvPr id="17" name="Pentagon 16">
            <a:extLst>
              <a:ext uri="{FF2B5EF4-FFF2-40B4-BE49-F238E27FC236}">
                <a16:creationId xmlns:a16="http://schemas.microsoft.com/office/drawing/2014/main" id="{F7C8218B-87B0-7C55-19B8-F5A699B3DBAA}"/>
              </a:ext>
            </a:extLst>
          </p:cNvPr>
          <p:cNvSpPr/>
          <p:nvPr/>
        </p:nvSpPr>
        <p:spPr>
          <a:xfrm rot="5400000">
            <a:off x="2240280" y="3528378"/>
            <a:ext cx="1828800" cy="960120"/>
          </a:xfrm>
          <a:prstGeom prst="homePlate">
            <a:avLst/>
          </a:prstGeom>
          <a:solidFill>
            <a:srgbClr val="80BDD3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D825D02-E887-3FC5-038E-8BF61B9E9D66}"/>
              </a:ext>
            </a:extLst>
          </p:cNvPr>
          <p:cNvSpPr txBox="1"/>
          <p:nvPr/>
        </p:nvSpPr>
        <p:spPr>
          <a:xfrm>
            <a:off x="2221992" y="3409967"/>
            <a:ext cx="1865376" cy="256032"/>
          </a:xfrm>
          <a:prstGeom prst="rect">
            <a:avLst/>
          </a:prstGeom>
          <a:noFill/>
        </p:spPr>
        <p:txBody>
          <a:bodyPr wrap="none" lIns="45720" tIns="18288" rIns="45720" bIns="18288" anchor="ctr">
            <a:spAutoFit/>
          </a:bodyPr>
          <a:lstStyle/>
          <a:p>
            <a:pPr algn="ctr"/>
            <a:r>
              <a:rPr sz="2000" b="1" dirty="0">
                <a:solidFill>
                  <a:srgbClr val="000000"/>
                </a:solidFill>
                <a:latin typeface="Aptos"/>
              </a:rPr>
              <a:t>Proteome</a:t>
            </a:r>
          </a:p>
        </p:txBody>
      </p:sp>
      <p:sp>
        <p:nvSpPr>
          <p:cNvPr id="20" name="Pentagon 19">
            <a:extLst>
              <a:ext uri="{FF2B5EF4-FFF2-40B4-BE49-F238E27FC236}">
                <a16:creationId xmlns:a16="http://schemas.microsoft.com/office/drawing/2014/main" id="{45498803-D8E1-6096-0110-613E9EE66F08}"/>
              </a:ext>
            </a:extLst>
          </p:cNvPr>
          <p:cNvSpPr/>
          <p:nvPr/>
        </p:nvSpPr>
        <p:spPr>
          <a:xfrm rot="5400000">
            <a:off x="2576080" y="4216708"/>
            <a:ext cx="1157200" cy="960120"/>
          </a:xfrm>
          <a:prstGeom prst="homePlate">
            <a:avLst/>
          </a:prstGeom>
          <a:solidFill>
            <a:srgbClr val="77D3A9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5CB87DD-EB5A-1925-798F-3DB9F9C2E696}"/>
              </a:ext>
            </a:extLst>
          </p:cNvPr>
          <p:cNvSpPr txBox="1"/>
          <p:nvPr/>
        </p:nvSpPr>
        <p:spPr>
          <a:xfrm>
            <a:off x="2221992" y="4384662"/>
            <a:ext cx="1865376" cy="256032"/>
          </a:xfrm>
          <a:prstGeom prst="rect">
            <a:avLst/>
          </a:prstGeom>
          <a:noFill/>
        </p:spPr>
        <p:txBody>
          <a:bodyPr wrap="none" lIns="45720" tIns="18288" rIns="45720" bIns="18288" anchor="ctr">
            <a:spAutoFit/>
          </a:bodyPr>
          <a:lstStyle/>
          <a:p>
            <a:pPr algn="ctr"/>
            <a:r>
              <a:rPr sz="2000" b="1" dirty="0">
                <a:solidFill>
                  <a:srgbClr val="000000"/>
                </a:solidFill>
                <a:latin typeface="Aptos"/>
              </a:rPr>
              <a:t>Metabolome</a:t>
            </a: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00946E81-851C-7A15-0B3E-2B559FB3C762}"/>
              </a:ext>
            </a:extLst>
          </p:cNvPr>
          <p:cNvSpPr/>
          <p:nvPr/>
        </p:nvSpPr>
        <p:spPr>
          <a:xfrm>
            <a:off x="5088635" y="1283526"/>
            <a:ext cx="2834640" cy="758952"/>
          </a:xfrm>
          <a:prstGeom prst="roundRect">
            <a:avLst/>
          </a:prstGeom>
          <a:solidFill>
            <a:srgbClr val="B992CA"/>
          </a:solidFill>
          <a:ln w="15240">
            <a:solidFill>
              <a:srgbClr val="4B67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rIns="109728" rtlCol="0" anchor="ctr"/>
          <a:lstStyle/>
          <a:p>
            <a:pPr algn="l"/>
            <a:r>
              <a:rPr sz="2400" b="1">
                <a:solidFill>
                  <a:srgbClr val="000000"/>
                </a:solidFill>
                <a:latin typeface="Aptos"/>
              </a:rPr>
              <a:t>DNA</a:t>
            </a:r>
          </a:p>
          <a:p>
            <a:pPr algn="l">
              <a:spcBef>
                <a:spcPts val="300"/>
              </a:spcBef>
            </a:pPr>
            <a:r>
              <a:rPr sz="1250">
                <a:solidFill>
                  <a:srgbClr val="323232"/>
                </a:solidFill>
                <a:latin typeface="Aptos"/>
              </a:rPr>
              <a:t>Genome sequence / gene catalogue</a:t>
            </a:r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ED322A01-F5F4-20C8-B932-7EDAA32E2795}"/>
              </a:ext>
            </a:extLst>
          </p:cNvPr>
          <p:cNvSpPr/>
          <p:nvPr/>
        </p:nvSpPr>
        <p:spPr>
          <a:xfrm>
            <a:off x="5088635" y="2250285"/>
            <a:ext cx="2834640" cy="758952"/>
          </a:xfrm>
          <a:prstGeom prst="roundRect">
            <a:avLst/>
          </a:prstGeom>
          <a:solidFill>
            <a:srgbClr val="9994D6"/>
          </a:solidFill>
          <a:ln w="15240">
            <a:solidFill>
              <a:srgbClr val="4B67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rIns="109728" rtlCol="0" anchor="ctr"/>
          <a:lstStyle/>
          <a:p>
            <a:pPr algn="l"/>
            <a:r>
              <a:rPr sz="2400" b="1">
                <a:solidFill>
                  <a:srgbClr val="000000"/>
                </a:solidFill>
                <a:latin typeface="Aptos"/>
              </a:rPr>
              <a:t>RNA</a:t>
            </a:r>
          </a:p>
          <a:p>
            <a:pPr algn="l">
              <a:spcBef>
                <a:spcPts val="300"/>
              </a:spcBef>
            </a:pPr>
            <a:r>
              <a:rPr sz="1250">
                <a:solidFill>
                  <a:srgbClr val="323232"/>
                </a:solidFill>
                <a:latin typeface="Aptos"/>
              </a:rPr>
              <a:t>Condition-specific expression</a:t>
            </a:r>
          </a:p>
        </p:txBody>
      </p:sp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FF6D1030-97EC-CCBC-7933-5F2A34BD02A2}"/>
              </a:ext>
            </a:extLst>
          </p:cNvPr>
          <p:cNvSpPr/>
          <p:nvPr/>
        </p:nvSpPr>
        <p:spPr>
          <a:xfrm>
            <a:off x="5088635" y="3206271"/>
            <a:ext cx="2834640" cy="758952"/>
          </a:xfrm>
          <a:prstGeom prst="roundRect">
            <a:avLst/>
          </a:prstGeom>
          <a:solidFill>
            <a:srgbClr val="80BDD3"/>
          </a:solidFill>
          <a:ln w="15240">
            <a:solidFill>
              <a:srgbClr val="4B67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rIns="109728" rtlCol="0" anchor="ctr"/>
          <a:lstStyle/>
          <a:p>
            <a:pPr algn="l"/>
            <a:r>
              <a:rPr sz="2400" b="1">
                <a:solidFill>
                  <a:srgbClr val="000000"/>
                </a:solidFill>
                <a:latin typeface="Aptos"/>
              </a:rPr>
              <a:t>Proteins</a:t>
            </a:r>
          </a:p>
          <a:p>
            <a:pPr algn="l">
              <a:spcBef>
                <a:spcPts val="300"/>
              </a:spcBef>
            </a:pPr>
            <a:r>
              <a:rPr sz="1250">
                <a:solidFill>
                  <a:srgbClr val="323232"/>
                </a:solidFill>
                <a:latin typeface="Aptos"/>
              </a:rPr>
              <a:t>Enzymes and complexes</a:t>
            </a:r>
          </a:p>
        </p:txBody>
      </p:sp>
      <p:sp>
        <p:nvSpPr>
          <p:cNvPr id="30" name="Rounded Rectangle 29">
            <a:extLst>
              <a:ext uri="{FF2B5EF4-FFF2-40B4-BE49-F238E27FC236}">
                <a16:creationId xmlns:a16="http://schemas.microsoft.com/office/drawing/2014/main" id="{2B65AA8E-673F-9166-4BE9-F0E1D514AD18}"/>
              </a:ext>
            </a:extLst>
          </p:cNvPr>
          <p:cNvSpPr/>
          <p:nvPr/>
        </p:nvSpPr>
        <p:spPr>
          <a:xfrm>
            <a:off x="5088635" y="4199515"/>
            <a:ext cx="2834640" cy="758952"/>
          </a:xfrm>
          <a:prstGeom prst="roundRect">
            <a:avLst/>
          </a:prstGeom>
          <a:solidFill>
            <a:srgbClr val="77D3A9"/>
          </a:solidFill>
          <a:ln w="15240">
            <a:solidFill>
              <a:srgbClr val="4B67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rIns="109728" rtlCol="0" anchor="ctr"/>
          <a:lstStyle/>
          <a:p>
            <a:pPr algn="l"/>
            <a:r>
              <a:rPr sz="2100" b="1">
                <a:solidFill>
                  <a:srgbClr val="000000"/>
                </a:solidFill>
                <a:latin typeface="Aptos"/>
              </a:rPr>
              <a:t>Metabolites</a:t>
            </a:r>
          </a:p>
          <a:p>
            <a:pPr algn="l">
              <a:spcBef>
                <a:spcPts val="300"/>
              </a:spcBef>
            </a:pPr>
            <a:r>
              <a:rPr sz="1250">
                <a:solidFill>
                  <a:srgbClr val="323232"/>
                </a:solidFill>
                <a:latin typeface="Aptos"/>
              </a:rPr>
              <a:t>Nutrients, intermediates, products</a:t>
            </a:r>
          </a:p>
        </p:txBody>
      </p:sp>
      <p:sp>
        <p:nvSpPr>
          <p:cNvPr id="92" name="Rounded Rectangle 91">
            <a:extLst>
              <a:ext uri="{FF2B5EF4-FFF2-40B4-BE49-F238E27FC236}">
                <a16:creationId xmlns:a16="http://schemas.microsoft.com/office/drawing/2014/main" id="{83721331-B3E6-7E63-AD78-70D3E628097D}"/>
              </a:ext>
            </a:extLst>
          </p:cNvPr>
          <p:cNvSpPr/>
          <p:nvPr/>
        </p:nvSpPr>
        <p:spPr>
          <a:xfrm>
            <a:off x="8942832" y="2722891"/>
            <a:ext cx="2918259" cy="966759"/>
          </a:xfrm>
          <a:prstGeom prst="roundRect">
            <a:avLst/>
          </a:prstGeom>
          <a:solidFill>
            <a:srgbClr val="F8FBFC"/>
          </a:solidFill>
          <a:ln w="25400">
            <a:solidFill>
              <a:srgbClr val="46A5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tIns="109728" rIns="164592" bIns="109728" rtlCol="0" anchor="ctr"/>
          <a:lstStyle/>
          <a:p>
            <a:pPr algn="ctr"/>
            <a:endParaRPr lang="en-US" sz="2400" b="1" dirty="0">
              <a:solidFill>
                <a:srgbClr val="192D46"/>
              </a:solidFill>
              <a:latin typeface="Aptos"/>
            </a:endParaRPr>
          </a:p>
          <a:p>
            <a:pPr algn="ctr"/>
            <a:r>
              <a:rPr lang="en-US" sz="2400" b="1" dirty="0">
                <a:solidFill>
                  <a:srgbClr val="192D46"/>
                </a:solidFill>
                <a:latin typeface="Aptos"/>
              </a:rPr>
              <a:t>Genome-scale
metabolic model</a:t>
            </a:r>
          </a:p>
          <a:p>
            <a:pPr>
              <a:spcBef>
                <a:spcPts val="700"/>
              </a:spcBef>
              <a:defRPr sz="1250">
                <a:solidFill>
                  <a:srgbClr val="232323"/>
                </a:solidFill>
                <a:latin typeface="Aptos"/>
              </a:defRPr>
            </a:pPr>
            <a:endParaRPr lang="en-US" sz="1400" dirty="0"/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E0925764-2372-0BF1-E807-D02A8E4CDB8F}"/>
              </a:ext>
            </a:extLst>
          </p:cNvPr>
          <p:cNvSpPr txBox="1"/>
          <p:nvPr/>
        </p:nvSpPr>
        <p:spPr>
          <a:xfrm>
            <a:off x="11022448" y="91883"/>
            <a:ext cx="1169552" cy="198516"/>
          </a:xfrm>
          <a:prstGeom prst="rect">
            <a:avLst/>
          </a:prstGeom>
          <a:noFill/>
        </p:spPr>
        <p:txBody>
          <a:bodyPr wrap="none" lIns="45720" tIns="18288" rIns="45720" bIns="18288" anchor="ctr">
            <a:spAutoFit/>
          </a:bodyPr>
          <a:lstStyle/>
          <a:p>
            <a:pPr algn="r"/>
            <a:r>
              <a:rPr sz="1050" b="0" dirty="0">
                <a:solidFill>
                  <a:srgbClr val="969696"/>
                </a:solidFill>
                <a:latin typeface="Aptos"/>
              </a:rPr>
              <a:t>FISABIO workshop</a:t>
            </a:r>
          </a:p>
        </p:txBody>
      </p:sp>
      <p:cxnSp>
        <p:nvCxnSpPr>
          <p:cNvPr id="104" name="Straight Arrow Connector 103">
            <a:extLst>
              <a:ext uri="{FF2B5EF4-FFF2-40B4-BE49-F238E27FC236}">
                <a16:creationId xmlns:a16="http://schemas.microsoft.com/office/drawing/2014/main" id="{C300FB14-6D64-9396-9B66-6933B6222CA3}"/>
              </a:ext>
            </a:extLst>
          </p:cNvPr>
          <p:cNvCxnSpPr>
            <a:cxnSpLocks/>
          </p:cNvCxnSpPr>
          <p:nvPr/>
        </p:nvCxnSpPr>
        <p:spPr>
          <a:xfrm>
            <a:off x="7923275" y="1675334"/>
            <a:ext cx="1019557" cy="1199248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5" name="Straight Arrow Connector 104">
            <a:extLst>
              <a:ext uri="{FF2B5EF4-FFF2-40B4-BE49-F238E27FC236}">
                <a16:creationId xmlns:a16="http://schemas.microsoft.com/office/drawing/2014/main" id="{BE218A61-56A6-8343-A0D3-62A44C2F9F02}"/>
              </a:ext>
            </a:extLst>
          </p:cNvPr>
          <p:cNvCxnSpPr/>
          <p:nvPr/>
        </p:nvCxnSpPr>
        <p:spPr>
          <a:xfrm>
            <a:off x="4058807" y="2603932"/>
            <a:ext cx="973776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761B1266-9B07-9A73-ECD6-01A429573351}"/>
              </a:ext>
            </a:extLst>
          </p:cNvPr>
          <p:cNvCxnSpPr/>
          <p:nvPr/>
        </p:nvCxnSpPr>
        <p:spPr>
          <a:xfrm>
            <a:off x="4058807" y="3528378"/>
            <a:ext cx="973776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7" name="Straight Arrow Connector 106">
            <a:extLst>
              <a:ext uri="{FF2B5EF4-FFF2-40B4-BE49-F238E27FC236}">
                <a16:creationId xmlns:a16="http://schemas.microsoft.com/office/drawing/2014/main" id="{AB5DEA72-6E17-172D-EEBC-C24BC1AF05A9}"/>
              </a:ext>
            </a:extLst>
          </p:cNvPr>
          <p:cNvCxnSpPr/>
          <p:nvPr/>
        </p:nvCxnSpPr>
        <p:spPr>
          <a:xfrm>
            <a:off x="4058807" y="4654555"/>
            <a:ext cx="973776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8" name="Text Placeholder 4">
            <a:extLst>
              <a:ext uri="{FF2B5EF4-FFF2-40B4-BE49-F238E27FC236}">
                <a16:creationId xmlns:a16="http://schemas.microsoft.com/office/drawing/2014/main" id="{35662ED1-6BA3-77EE-4A7F-2B2C470BE2ED}"/>
              </a:ext>
            </a:extLst>
          </p:cNvPr>
          <p:cNvSpPr txBox="1">
            <a:spLocks/>
          </p:cNvSpPr>
          <p:nvPr/>
        </p:nvSpPr>
        <p:spPr>
          <a:xfrm>
            <a:off x="371475" y="396875"/>
            <a:ext cx="11074291" cy="8683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36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b="1"/>
              <a:t>From genotype to metabolic phenotype </a:t>
            </a:r>
            <a:endParaRPr lang="en-US" b="1" dirty="0"/>
          </a:p>
        </p:txBody>
      </p:sp>
      <p:cxnSp>
        <p:nvCxnSpPr>
          <p:cNvPr id="110" name="Straight Arrow Connector 109">
            <a:extLst>
              <a:ext uri="{FF2B5EF4-FFF2-40B4-BE49-F238E27FC236}">
                <a16:creationId xmlns:a16="http://schemas.microsoft.com/office/drawing/2014/main" id="{10AD4A5F-23A8-DFC3-B81E-560C5E55AEC4}"/>
              </a:ext>
            </a:extLst>
          </p:cNvPr>
          <p:cNvCxnSpPr>
            <a:cxnSpLocks/>
          </p:cNvCxnSpPr>
          <p:nvPr/>
        </p:nvCxnSpPr>
        <p:spPr>
          <a:xfrm flipV="1">
            <a:off x="7904985" y="2804575"/>
            <a:ext cx="980782" cy="124179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2" name="Straight Arrow Connector 111">
            <a:extLst>
              <a:ext uri="{FF2B5EF4-FFF2-40B4-BE49-F238E27FC236}">
                <a16:creationId xmlns:a16="http://schemas.microsoft.com/office/drawing/2014/main" id="{7746806C-AF4E-94B9-8A7D-16E3284F4490}"/>
              </a:ext>
            </a:extLst>
          </p:cNvPr>
          <p:cNvCxnSpPr>
            <a:cxnSpLocks/>
          </p:cNvCxnSpPr>
          <p:nvPr/>
        </p:nvCxnSpPr>
        <p:spPr>
          <a:xfrm flipV="1">
            <a:off x="7941565" y="3528378"/>
            <a:ext cx="901989" cy="85298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3" name="Straight Arrow Connector 112">
            <a:extLst>
              <a:ext uri="{FF2B5EF4-FFF2-40B4-BE49-F238E27FC236}">
                <a16:creationId xmlns:a16="http://schemas.microsoft.com/office/drawing/2014/main" id="{E67272D2-BE99-DC98-4072-D0445D0CB586}"/>
              </a:ext>
            </a:extLst>
          </p:cNvPr>
          <p:cNvCxnSpPr>
            <a:cxnSpLocks/>
          </p:cNvCxnSpPr>
          <p:nvPr/>
        </p:nvCxnSpPr>
        <p:spPr>
          <a:xfrm flipV="1">
            <a:off x="7913926" y="3429000"/>
            <a:ext cx="1010616" cy="1127771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97430290"/>
      </p:ext>
    </p:extLst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0C7CDB-BB21-5551-AD41-068B73F8EE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263BD32-EF25-ADC8-AAA2-33553C31CC0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71475" y="396875"/>
            <a:ext cx="11354360" cy="868363"/>
          </a:xfrm>
        </p:spPr>
        <p:txBody>
          <a:bodyPr/>
          <a:lstStyle/>
          <a:p>
            <a:pPr marL="0" indent="0">
              <a:buNone/>
            </a:pPr>
            <a:r>
              <a:rPr lang="en-US" b="1" dirty="0"/>
              <a:t>What is a Genome Scale metabolic model?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752B0A5-3A2F-A452-4F6D-D45D024BD17F}"/>
              </a:ext>
            </a:extLst>
          </p:cNvPr>
          <p:cNvSpPr txBox="1"/>
          <p:nvPr/>
        </p:nvSpPr>
        <p:spPr>
          <a:xfrm>
            <a:off x="11022448" y="91883"/>
            <a:ext cx="1169552" cy="198516"/>
          </a:xfrm>
          <a:prstGeom prst="rect">
            <a:avLst/>
          </a:prstGeom>
          <a:noFill/>
        </p:spPr>
        <p:txBody>
          <a:bodyPr wrap="none" lIns="45720" tIns="18288" rIns="45720" bIns="18288" anchor="ctr">
            <a:spAutoFit/>
          </a:bodyPr>
          <a:lstStyle/>
          <a:p>
            <a:pPr algn="r"/>
            <a:r>
              <a:rPr sz="1050" b="0" dirty="0">
                <a:solidFill>
                  <a:srgbClr val="969696"/>
                </a:solidFill>
                <a:latin typeface="Aptos"/>
              </a:rPr>
              <a:t>FISABIO workshop</a:t>
            </a:r>
          </a:p>
        </p:txBody>
      </p:sp>
      <p:sp>
        <p:nvSpPr>
          <p:cNvPr id="8" name="Text 1">
            <a:extLst>
              <a:ext uri="{FF2B5EF4-FFF2-40B4-BE49-F238E27FC236}">
                <a16:creationId xmlns:a16="http://schemas.microsoft.com/office/drawing/2014/main" id="{28076344-6ADE-FF7C-4B7E-C05E456008AF}"/>
              </a:ext>
            </a:extLst>
          </p:cNvPr>
          <p:cNvSpPr/>
          <p:nvPr/>
        </p:nvSpPr>
        <p:spPr>
          <a:xfrm>
            <a:off x="466165" y="995903"/>
            <a:ext cx="8360335" cy="538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dirty="0">
                <a:solidFill>
                  <a:srgbClr val="5D6B78"/>
                </a:solidFill>
                <a:latin typeface="Arial"/>
              </a:rPr>
              <a:t>A structured, computable representation of an organism’s metabolic potential</a:t>
            </a:r>
            <a:endParaRPr lang="en-US" dirty="0">
              <a:solidFill>
                <a:prstClr val="black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400250369"/>
      </p:ext>
    </p:extLst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0C7CDB-BB21-5551-AD41-068B73F8EE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24086C4-EF6E-B04C-CE89-1F351A331F1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Genome scale metabolic model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7D83A34-0F1C-681C-3F9D-5E1219D7207A}"/>
              </a:ext>
            </a:extLst>
          </p:cNvPr>
          <p:cNvSpPr txBox="1"/>
          <p:nvPr/>
        </p:nvSpPr>
        <p:spPr>
          <a:xfrm>
            <a:off x="11022448" y="91883"/>
            <a:ext cx="1169552" cy="198516"/>
          </a:xfrm>
          <a:prstGeom prst="rect">
            <a:avLst/>
          </a:prstGeom>
          <a:noFill/>
        </p:spPr>
        <p:txBody>
          <a:bodyPr wrap="none" lIns="45720" tIns="18288" rIns="45720" bIns="18288" anchor="ctr">
            <a:spAutoFit/>
          </a:bodyPr>
          <a:lstStyle/>
          <a:p>
            <a:pPr algn="r"/>
            <a:r>
              <a:rPr sz="1050" b="0" dirty="0">
                <a:solidFill>
                  <a:srgbClr val="969696"/>
                </a:solidFill>
                <a:latin typeface="Aptos"/>
              </a:rPr>
              <a:t>FISABIO workshop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4ABEF6E-96E6-D978-C955-D9C4269A4A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1534573"/>
            <a:ext cx="7772400" cy="47070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7203574"/>
      </p:ext>
    </p:extLst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0C7CDB-BB21-5551-AD41-068B73F8EE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28AE6AC-5B14-4696-8187-78135F0B058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15451FA-997D-15A7-8E6A-D1CB64664B0B}"/>
              </a:ext>
            </a:extLst>
          </p:cNvPr>
          <p:cNvSpPr txBox="1"/>
          <p:nvPr/>
        </p:nvSpPr>
        <p:spPr>
          <a:xfrm>
            <a:off x="11022448" y="91883"/>
            <a:ext cx="1169552" cy="198516"/>
          </a:xfrm>
          <a:prstGeom prst="rect">
            <a:avLst/>
          </a:prstGeom>
          <a:noFill/>
        </p:spPr>
        <p:txBody>
          <a:bodyPr wrap="none" lIns="45720" tIns="18288" rIns="45720" bIns="18288" anchor="ctr">
            <a:spAutoFit/>
          </a:bodyPr>
          <a:lstStyle/>
          <a:p>
            <a:pPr algn="r"/>
            <a:r>
              <a:rPr sz="1050" b="0" dirty="0">
                <a:solidFill>
                  <a:srgbClr val="969696"/>
                </a:solidFill>
                <a:latin typeface="Aptos"/>
              </a:rPr>
              <a:t>FISABIO workshop</a:t>
            </a:r>
          </a:p>
        </p:txBody>
      </p:sp>
    </p:spTree>
    <p:extLst>
      <p:ext uri="{BB962C8B-B14F-4D97-AF65-F5344CB8AC3E}">
        <p14:creationId xmlns:p14="http://schemas.microsoft.com/office/powerpoint/2010/main" val="3138601588"/>
      </p:ext>
    </p:extLst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0C7CDB-BB21-5551-AD41-068B73F8EE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E26B140-E014-EDD3-C7C9-46803E8C6DF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3940A24-4C42-2208-C8FB-0FB696447C07}"/>
              </a:ext>
            </a:extLst>
          </p:cNvPr>
          <p:cNvSpPr txBox="1"/>
          <p:nvPr/>
        </p:nvSpPr>
        <p:spPr>
          <a:xfrm>
            <a:off x="11022448" y="91883"/>
            <a:ext cx="1169552" cy="198516"/>
          </a:xfrm>
          <a:prstGeom prst="rect">
            <a:avLst/>
          </a:prstGeom>
          <a:noFill/>
        </p:spPr>
        <p:txBody>
          <a:bodyPr wrap="none" lIns="45720" tIns="18288" rIns="45720" bIns="18288" anchor="ctr">
            <a:spAutoFit/>
          </a:bodyPr>
          <a:lstStyle/>
          <a:p>
            <a:pPr algn="r"/>
            <a:r>
              <a:rPr sz="1050" b="0" dirty="0">
                <a:solidFill>
                  <a:srgbClr val="969696"/>
                </a:solidFill>
                <a:latin typeface="Aptos"/>
              </a:rPr>
              <a:t>FISABIO workshop</a:t>
            </a:r>
          </a:p>
        </p:txBody>
      </p:sp>
    </p:spTree>
    <p:extLst>
      <p:ext uri="{BB962C8B-B14F-4D97-AF65-F5344CB8AC3E}">
        <p14:creationId xmlns:p14="http://schemas.microsoft.com/office/powerpoint/2010/main" val="1978806818"/>
      </p:ext>
    </p:extLst>
  </p:cSld>
  <p:clrMapOvr>
    <a:masterClrMapping/>
  </p:clrMapOvr>
  <p:transition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0C7CDB-BB21-5551-AD41-068B73F8EE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643CEE1-8E7C-7DBF-54B9-74206F746A7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087C49A-813F-2E94-D88F-C3BE92E9C56F}"/>
              </a:ext>
            </a:extLst>
          </p:cNvPr>
          <p:cNvSpPr txBox="1"/>
          <p:nvPr/>
        </p:nvSpPr>
        <p:spPr>
          <a:xfrm>
            <a:off x="11022448" y="91883"/>
            <a:ext cx="1169552" cy="198516"/>
          </a:xfrm>
          <a:prstGeom prst="rect">
            <a:avLst/>
          </a:prstGeom>
          <a:noFill/>
        </p:spPr>
        <p:txBody>
          <a:bodyPr wrap="none" lIns="45720" tIns="18288" rIns="45720" bIns="18288" anchor="ctr">
            <a:spAutoFit/>
          </a:bodyPr>
          <a:lstStyle/>
          <a:p>
            <a:pPr algn="r"/>
            <a:r>
              <a:rPr sz="1050" b="0" dirty="0">
                <a:solidFill>
                  <a:srgbClr val="969696"/>
                </a:solidFill>
                <a:latin typeface="Aptos"/>
              </a:rPr>
              <a:t>FISABIO workshop</a:t>
            </a:r>
          </a:p>
        </p:txBody>
      </p:sp>
    </p:spTree>
    <p:extLst>
      <p:ext uri="{BB962C8B-B14F-4D97-AF65-F5344CB8AC3E}">
        <p14:creationId xmlns:p14="http://schemas.microsoft.com/office/powerpoint/2010/main" val="2917721761"/>
      </p:ext>
    </p:extLst>
  </p:cSld>
  <p:clrMapOvr>
    <a:masterClrMapping/>
  </p:clrMapOvr>
  <p:transition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0C7CDB-BB21-5551-AD41-068B73F8EE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BF34DDC-4A4B-65D6-BF7F-46E783FC681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CC8E365-509F-4B57-6BC0-425449EAAF83}"/>
              </a:ext>
            </a:extLst>
          </p:cNvPr>
          <p:cNvSpPr txBox="1"/>
          <p:nvPr/>
        </p:nvSpPr>
        <p:spPr>
          <a:xfrm>
            <a:off x="11022448" y="91883"/>
            <a:ext cx="1169552" cy="198516"/>
          </a:xfrm>
          <a:prstGeom prst="rect">
            <a:avLst/>
          </a:prstGeom>
          <a:noFill/>
        </p:spPr>
        <p:txBody>
          <a:bodyPr wrap="none" lIns="45720" tIns="18288" rIns="45720" bIns="18288" anchor="ctr">
            <a:spAutoFit/>
          </a:bodyPr>
          <a:lstStyle/>
          <a:p>
            <a:pPr algn="r"/>
            <a:r>
              <a:rPr sz="1050" b="0" dirty="0">
                <a:solidFill>
                  <a:srgbClr val="969696"/>
                </a:solidFill>
                <a:latin typeface="Aptos"/>
              </a:rPr>
              <a:t>FISABIO workshop</a:t>
            </a:r>
          </a:p>
        </p:txBody>
      </p:sp>
    </p:spTree>
    <p:extLst>
      <p:ext uri="{BB962C8B-B14F-4D97-AF65-F5344CB8AC3E}">
        <p14:creationId xmlns:p14="http://schemas.microsoft.com/office/powerpoint/2010/main" val="1867014121"/>
      </p:ext>
    </p:extLst>
  </p:cSld>
  <p:clrMapOvr>
    <a:masterClrMapping/>
  </p:clrMapOvr>
  <p:transition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0C7CDB-BB21-5551-AD41-068B73F8EE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F1906FF-7A9D-6E74-AB44-F3083EDB8C6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4C514A6-0D4F-A567-FD97-2FDD44E4680F}"/>
              </a:ext>
            </a:extLst>
          </p:cNvPr>
          <p:cNvSpPr txBox="1"/>
          <p:nvPr/>
        </p:nvSpPr>
        <p:spPr>
          <a:xfrm>
            <a:off x="11022448" y="91883"/>
            <a:ext cx="1169552" cy="198516"/>
          </a:xfrm>
          <a:prstGeom prst="rect">
            <a:avLst/>
          </a:prstGeom>
          <a:noFill/>
        </p:spPr>
        <p:txBody>
          <a:bodyPr wrap="none" lIns="45720" tIns="18288" rIns="45720" bIns="18288" anchor="ctr">
            <a:spAutoFit/>
          </a:bodyPr>
          <a:lstStyle/>
          <a:p>
            <a:pPr algn="r"/>
            <a:r>
              <a:rPr sz="1050" b="0" dirty="0">
                <a:solidFill>
                  <a:srgbClr val="969696"/>
                </a:solidFill>
                <a:latin typeface="Aptos"/>
              </a:rPr>
              <a:t>FISABIO workshop</a:t>
            </a:r>
          </a:p>
        </p:txBody>
      </p:sp>
    </p:spTree>
    <p:extLst>
      <p:ext uri="{BB962C8B-B14F-4D97-AF65-F5344CB8AC3E}">
        <p14:creationId xmlns:p14="http://schemas.microsoft.com/office/powerpoint/2010/main" val="978605128"/>
      </p:ext>
    </p:extLst>
  </p:cSld>
  <p:clrMapOvr>
    <a:masterClrMapping/>
  </p:clrMapOvr>
  <p:transition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1891</TotalTime>
  <Words>1023</Words>
  <Application>Microsoft Macintosh PowerPoint</Application>
  <PresentationFormat>Widescreen</PresentationFormat>
  <Paragraphs>125</Paragraphs>
  <Slides>12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7" baseType="lpstr">
      <vt:lpstr>Aptos</vt:lpstr>
      <vt:lpstr>Aptos Display</vt:lpstr>
      <vt:lpstr>Arial</vt:lpstr>
      <vt:lpstr>Segoe UI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Kshitij Tandon</dc:creator>
  <cp:lastModifiedBy>Kshitij Tandon</cp:lastModifiedBy>
  <cp:revision>1</cp:revision>
  <dcterms:created xsi:type="dcterms:W3CDTF">2026-06-29T03:06:44Z</dcterms:created>
  <dcterms:modified xsi:type="dcterms:W3CDTF">2026-07-06T02:49:40Z</dcterms:modified>
</cp:coreProperties>
</file>